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2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2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7EDFF6-BE60-49D2-BB99-B411470C2B92}" type="doc">
      <dgm:prSet loTypeId="urn:microsoft.com/office/officeart/2005/8/layout/list1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16D9C14-B994-4138-8A0D-9C190645C52C}">
      <dgm:prSet/>
      <dgm:spPr/>
      <dgm:t>
        <a:bodyPr/>
        <a:lstStyle/>
        <a:p>
          <a:r>
            <a:rPr lang="fr-FR"/>
            <a:t>Introduction et Contexte du Projet</a:t>
          </a:r>
          <a:endParaRPr lang="en-US"/>
        </a:p>
      </dgm:t>
    </dgm:pt>
    <dgm:pt modelId="{4B8EBCA3-FDA9-4C92-9AD8-FB8BB699D177}" type="parTrans" cxnId="{92A62A00-86BC-49FE-A100-1287EB77932E}">
      <dgm:prSet/>
      <dgm:spPr/>
      <dgm:t>
        <a:bodyPr/>
        <a:lstStyle/>
        <a:p>
          <a:endParaRPr lang="en-US"/>
        </a:p>
      </dgm:t>
    </dgm:pt>
    <dgm:pt modelId="{3EC8966D-48C5-43A8-8205-D19738305128}" type="sibTrans" cxnId="{92A62A00-86BC-49FE-A100-1287EB77932E}">
      <dgm:prSet/>
      <dgm:spPr/>
      <dgm:t>
        <a:bodyPr/>
        <a:lstStyle/>
        <a:p>
          <a:endParaRPr lang="en-US"/>
        </a:p>
      </dgm:t>
    </dgm:pt>
    <dgm:pt modelId="{4F14A70B-A3BB-4161-8774-1C0C3DF8FADD}">
      <dgm:prSet/>
      <dgm:spPr/>
      <dgm:t>
        <a:bodyPr/>
        <a:lstStyle/>
        <a:p>
          <a:r>
            <a:rPr lang="fr-FR" dirty="0"/>
            <a:t>Audit et Nettoyage des Données</a:t>
          </a:r>
          <a:endParaRPr lang="en-US" dirty="0"/>
        </a:p>
      </dgm:t>
    </dgm:pt>
    <dgm:pt modelId="{3306FC68-428B-43E4-919A-F455BACDCC43}" type="parTrans" cxnId="{26B76391-49C4-4CCC-BAD6-46CA229ABC4B}">
      <dgm:prSet/>
      <dgm:spPr/>
      <dgm:t>
        <a:bodyPr/>
        <a:lstStyle/>
        <a:p>
          <a:endParaRPr lang="en-US"/>
        </a:p>
      </dgm:t>
    </dgm:pt>
    <dgm:pt modelId="{2B74A139-4C0F-4F16-AB35-52E638931EE4}" type="sibTrans" cxnId="{26B76391-49C4-4CCC-BAD6-46CA229ABC4B}">
      <dgm:prSet/>
      <dgm:spPr/>
      <dgm:t>
        <a:bodyPr/>
        <a:lstStyle/>
        <a:p>
          <a:endParaRPr lang="en-US"/>
        </a:p>
      </dgm:t>
    </dgm:pt>
    <dgm:pt modelId="{3E714341-44B1-4002-A0A7-0CBE9FD4D930}">
      <dgm:prSet/>
      <dgm:spPr/>
      <dgm:t>
        <a:bodyPr/>
        <a:lstStyle/>
        <a:p>
          <a:r>
            <a:rPr lang="fr-FR"/>
            <a:t>Exploration et Visualisation</a:t>
          </a:r>
          <a:endParaRPr lang="en-US"/>
        </a:p>
      </dgm:t>
    </dgm:pt>
    <dgm:pt modelId="{27366653-1498-492C-B7F7-D20CD0FF0782}" type="parTrans" cxnId="{A611E3F1-4C74-4508-92BF-E8049B17709F}">
      <dgm:prSet/>
      <dgm:spPr/>
      <dgm:t>
        <a:bodyPr/>
        <a:lstStyle/>
        <a:p>
          <a:endParaRPr lang="en-US"/>
        </a:p>
      </dgm:t>
    </dgm:pt>
    <dgm:pt modelId="{2A301596-3B4D-4D5D-98E8-95542D9E7CD3}" type="sibTrans" cxnId="{A611E3F1-4C74-4508-92BF-E8049B17709F}">
      <dgm:prSet/>
      <dgm:spPr/>
      <dgm:t>
        <a:bodyPr/>
        <a:lstStyle/>
        <a:p>
          <a:endParaRPr lang="en-US"/>
        </a:p>
      </dgm:t>
    </dgm:pt>
    <dgm:pt modelId="{7C2A2F36-5A01-4819-A000-13014D331881}">
      <dgm:prSet/>
      <dgm:spPr/>
      <dgm:t>
        <a:bodyPr/>
        <a:lstStyle/>
        <a:p>
          <a:r>
            <a:rPr lang="fr-FR" dirty="0"/>
            <a:t>Bilan Technique : Ce que j'ai appris</a:t>
          </a:r>
          <a:endParaRPr lang="en-US" dirty="0"/>
        </a:p>
      </dgm:t>
    </dgm:pt>
    <dgm:pt modelId="{4022FD26-343B-4F66-89FD-57D7E313C44D}" type="parTrans" cxnId="{129D1C0A-ECAB-4F5E-9502-E738C07BF88A}">
      <dgm:prSet/>
      <dgm:spPr/>
      <dgm:t>
        <a:bodyPr/>
        <a:lstStyle/>
        <a:p>
          <a:endParaRPr lang="en-US"/>
        </a:p>
      </dgm:t>
    </dgm:pt>
    <dgm:pt modelId="{14D680F6-DAA9-49CA-8894-C788DD233EE2}" type="sibTrans" cxnId="{129D1C0A-ECAB-4F5E-9502-E738C07BF88A}">
      <dgm:prSet/>
      <dgm:spPr/>
      <dgm:t>
        <a:bodyPr/>
        <a:lstStyle/>
        <a:p>
          <a:endParaRPr lang="en-US"/>
        </a:p>
      </dgm:t>
    </dgm:pt>
    <dgm:pt modelId="{1331F5B0-3E38-4BFB-BE72-415039C2D3C3}">
      <dgm:prSet/>
      <dgm:spPr/>
      <dgm:t>
        <a:bodyPr/>
        <a:lstStyle/>
        <a:p>
          <a:r>
            <a:rPr lang="fr-FR"/>
            <a:t>Conclusion</a:t>
          </a:r>
          <a:endParaRPr lang="en-US"/>
        </a:p>
      </dgm:t>
    </dgm:pt>
    <dgm:pt modelId="{10A58958-C9DB-4594-966B-4527830E990A}" type="parTrans" cxnId="{838C43B6-719E-4EA8-AE94-0D49F57E54C5}">
      <dgm:prSet/>
      <dgm:spPr/>
      <dgm:t>
        <a:bodyPr/>
        <a:lstStyle/>
        <a:p>
          <a:endParaRPr lang="en-US"/>
        </a:p>
      </dgm:t>
    </dgm:pt>
    <dgm:pt modelId="{61AD34FA-99F8-4E01-AF71-A002A7B9F8A3}" type="sibTrans" cxnId="{838C43B6-719E-4EA8-AE94-0D49F57E54C5}">
      <dgm:prSet/>
      <dgm:spPr/>
      <dgm:t>
        <a:bodyPr/>
        <a:lstStyle/>
        <a:p>
          <a:endParaRPr lang="en-US"/>
        </a:p>
      </dgm:t>
    </dgm:pt>
    <dgm:pt modelId="{164191F1-D507-48FB-82A5-A25ADB2057C1}" type="pres">
      <dgm:prSet presAssocID="{9C7EDFF6-BE60-49D2-BB99-B411470C2B92}" presName="linear" presStyleCnt="0">
        <dgm:presLayoutVars>
          <dgm:dir/>
          <dgm:animLvl val="lvl"/>
          <dgm:resizeHandles val="exact"/>
        </dgm:presLayoutVars>
      </dgm:prSet>
      <dgm:spPr/>
    </dgm:pt>
    <dgm:pt modelId="{984EBDF8-D283-4390-9502-138166F63091}" type="pres">
      <dgm:prSet presAssocID="{416D9C14-B994-4138-8A0D-9C190645C52C}" presName="parentLin" presStyleCnt="0"/>
      <dgm:spPr/>
    </dgm:pt>
    <dgm:pt modelId="{6C73A71C-1099-4A0C-9D7F-0EC1E2FF4EDF}" type="pres">
      <dgm:prSet presAssocID="{416D9C14-B994-4138-8A0D-9C190645C52C}" presName="parentLeftMargin" presStyleLbl="node1" presStyleIdx="0" presStyleCnt="5"/>
      <dgm:spPr/>
    </dgm:pt>
    <dgm:pt modelId="{7A1906C3-5B79-456B-854C-56A65BE6EA48}" type="pres">
      <dgm:prSet presAssocID="{416D9C14-B994-4138-8A0D-9C190645C5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DD79A8C-C194-4DB3-9C4D-FCB45F7FC3A0}" type="pres">
      <dgm:prSet presAssocID="{416D9C14-B994-4138-8A0D-9C190645C52C}" presName="negativeSpace" presStyleCnt="0"/>
      <dgm:spPr/>
    </dgm:pt>
    <dgm:pt modelId="{C81F3CA7-4BE5-4A90-A044-787EF44AC12B}" type="pres">
      <dgm:prSet presAssocID="{416D9C14-B994-4138-8A0D-9C190645C52C}" presName="childText" presStyleLbl="conFgAcc1" presStyleIdx="0" presStyleCnt="5">
        <dgm:presLayoutVars>
          <dgm:bulletEnabled val="1"/>
        </dgm:presLayoutVars>
      </dgm:prSet>
      <dgm:spPr/>
    </dgm:pt>
    <dgm:pt modelId="{B8D7997F-855A-4BDD-8D55-A0EE865D9EA5}" type="pres">
      <dgm:prSet presAssocID="{3EC8966D-48C5-43A8-8205-D19738305128}" presName="spaceBetweenRectangles" presStyleCnt="0"/>
      <dgm:spPr/>
    </dgm:pt>
    <dgm:pt modelId="{FB285910-CF06-4DCC-8F5A-25C12F399976}" type="pres">
      <dgm:prSet presAssocID="{4F14A70B-A3BB-4161-8774-1C0C3DF8FADD}" presName="parentLin" presStyleCnt="0"/>
      <dgm:spPr/>
    </dgm:pt>
    <dgm:pt modelId="{DCBA16E4-C58D-496D-AEC4-F476CF69B055}" type="pres">
      <dgm:prSet presAssocID="{4F14A70B-A3BB-4161-8774-1C0C3DF8FADD}" presName="parentLeftMargin" presStyleLbl="node1" presStyleIdx="0" presStyleCnt="5"/>
      <dgm:spPr/>
    </dgm:pt>
    <dgm:pt modelId="{4ACF7253-5A07-4CCB-A1A2-7987556653FD}" type="pres">
      <dgm:prSet presAssocID="{4F14A70B-A3BB-4161-8774-1C0C3DF8FAD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03046C3-9ADC-4A80-9152-256BDB044D67}" type="pres">
      <dgm:prSet presAssocID="{4F14A70B-A3BB-4161-8774-1C0C3DF8FADD}" presName="negativeSpace" presStyleCnt="0"/>
      <dgm:spPr/>
    </dgm:pt>
    <dgm:pt modelId="{B7EACD5D-F2B7-48C8-BDA0-5EF3F996FDE9}" type="pres">
      <dgm:prSet presAssocID="{4F14A70B-A3BB-4161-8774-1C0C3DF8FADD}" presName="childText" presStyleLbl="conFgAcc1" presStyleIdx="1" presStyleCnt="5">
        <dgm:presLayoutVars>
          <dgm:bulletEnabled val="1"/>
        </dgm:presLayoutVars>
      </dgm:prSet>
      <dgm:spPr/>
    </dgm:pt>
    <dgm:pt modelId="{41C6011D-EB78-455A-9015-7C1E3B52328B}" type="pres">
      <dgm:prSet presAssocID="{2B74A139-4C0F-4F16-AB35-52E638931EE4}" presName="spaceBetweenRectangles" presStyleCnt="0"/>
      <dgm:spPr/>
    </dgm:pt>
    <dgm:pt modelId="{EB7D6095-DAF6-4927-8B0B-107EF0BCD24C}" type="pres">
      <dgm:prSet presAssocID="{3E714341-44B1-4002-A0A7-0CBE9FD4D930}" presName="parentLin" presStyleCnt="0"/>
      <dgm:spPr/>
    </dgm:pt>
    <dgm:pt modelId="{9A08FC4C-A824-42D3-BC00-3F2D9FBC3ECB}" type="pres">
      <dgm:prSet presAssocID="{3E714341-44B1-4002-A0A7-0CBE9FD4D930}" presName="parentLeftMargin" presStyleLbl="node1" presStyleIdx="1" presStyleCnt="5"/>
      <dgm:spPr/>
    </dgm:pt>
    <dgm:pt modelId="{7A167A84-4767-4620-9C12-058EAFA008D6}" type="pres">
      <dgm:prSet presAssocID="{3E714341-44B1-4002-A0A7-0CBE9FD4D9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BCD393D-E0BB-4C99-B84D-9211C66879E0}" type="pres">
      <dgm:prSet presAssocID="{3E714341-44B1-4002-A0A7-0CBE9FD4D930}" presName="negativeSpace" presStyleCnt="0"/>
      <dgm:spPr/>
    </dgm:pt>
    <dgm:pt modelId="{BD1D72F8-FAD4-4486-BF52-45CEAE0C11E0}" type="pres">
      <dgm:prSet presAssocID="{3E714341-44B1-4002-A0A7-0CBE9FD4D930}" presName="childText" presStyleLbl="conFgAcc1" presStyleIdx="2" presStyleCnt="5">
        <dgm:presLayoutVars>
          <dgm:bulletEnabled val="1"/>
        </dgm:presLayoutVars>
      </dgm:prSet>
      <dgm:spPr/>
    </dgm:pt>
    <dgm:pt modelId="{07D5661A-E1E1-4757-8468-F1A2D49FF18E}" type="pres">
      <dgm:prSet presAssocID="{2A301596-3B4D-4D5D-98E8-95542D9E7CD3}" presName="spaceBetweenRectangles" presStyleCnt="0"/>
      <dgm:spPr/>
    </dgm:pt>
    <dgm:pt modelId="{19C57C85-509B-4003-8080-84814FAA7E70}" type="pres">
      <dgm:prSet presAssocID="{7C2A2F36-5A01-4819-A000-13014D331881}" presName="parentLin" presStyleCnt="0"/>
      <dgm:spPr/>
    </dgm:pt>
    <dgm:pt modelId="{530C8A5F-C1D2-4ADF-B555-D1478274DF08}" type="pres">
      <dgm:prSet presAssocID="{7C2A2F36-5A01-4819-A000-13014D331881}" presName="parentLeftMargin" presStyleLbl="node1" presStyleIdx="2" presStyleCnt="5"/>
      <dgm:spPr/>
    </dgm:pt>
    <dgm:pt modelId="{D8E0E87E-946E-4408-9807-CA0795280AF6}" type="pres">
      <dgm:prSet presAssocID="{7C2A2F36-5A01-4819-A000-13014D33188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115E91-CE8E-47A8-B25A-41285526BF1F}" type="pres">
      <dgm:prSet presAssocID="{7C2A2F36-5A01-4819-A000-13014D331881}" presName="negativeSpace" presStyleCnt="0"/>
      <dgm:spPr/>
    </dgm:pt>
    <dgm:pt modelId="{907C39AC-57A4-4FCC-A8E4-2C884DB61618}" type="pres">
      <dgm:prSet presAssocID="{7C2A2F36-5A01-4819-A000-13014D331881}" presName="childText" presStyleLbl="conFgAcc1" presStyleIdx="3" presStyleCnt="5">
        <dgm:presLayoutVars>
          <dgm:bulletEnabled val="1"/>
        </dgm:presLayoutVars>
      </dgm:prSet>
      <dgm:spPr/>
    </dgm:pt>
    <dgm:pt modelId="{59435469-B7EB-42F1-A36C-D0FAC35EE228}" type="pres">
      <dgm:prSet presAssocID="{14D680F6-DAA9-49CA-8894-C788DD233EE2}" presName="spaceBetweenRectangles" presStyleCnt="0"/>
      <dgm:spPr/>
    </dgm:pt>
    <dgm:pt modelId="{0199C7D5-0085-4C44-87A1-846D4DEC6E90}" type="pres">
      <dgm:prSet presAssocID="{1331F5B0-3E38-4BFB-BE72-415039C2D3C3}" presName="parentLin" presStyleCnt="0"/>
      <dgm:spPr/>
    </dgm:pt>
    <dgm:pt modelId="{B342BC45-03B0-4499-97D1-242A48B14625}" type="pres">
      <dgm:prSet presAssocID="{1331F5B0-3E38-4BFB-BE72-415039C2D3C3}" presName="parentLeftMargin" presStyleLbl="node1" presStyleIdx="3" presStyleCnt="5"/>
      <dgm:spPr/>
    </dgm:pt>
    <dgm:pt modelId="{8B06FF99-A79B-47B3-8800-A47199ED8A08}" type="pres">
      <dgm:prSet presAssocID="{1331F5B0-3E38-4BFB-BE72-415039C2D3C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5F83FB4-8257-40B5-93D5-8D1F5C3F5E01}" type="pres">
      <dgm:prSet presAssocID="{1331F5B0-3E38-4BFB-BE72-415039C2D3C3}" presName="negativeSpace" presStyleCnt="0"/>
      <dgm:spPr/>
    </dgm:pt>
    <dgm:pt modelId="{3CBA16D6-339F-4BE8-AB65-C20A57EC26B6}" type="pres">
      <dgm:prSet presAssocID="{1331F5B0-3E38-4BFB-BE72-415039C2D3C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2A62A00-86BC-49FE-A100-1287EB77932E}" srcId="{9C7EDFF6-BE60-49D2-BB99-B411470C2B92}" destId="{416D9C14-B994-4138-8A0D-9C190645C52C}" srcOrd="0" destOrd="0" parTransId="{4B8EBCA3-FDA9-4C92-9AD8-FB8BB699D177}" sibTransId="{3EC8966D-48C5-43A8-8205-D19738305128}"/>
    <dgm:cxn modelId="{129D1C0A-ECAB-4F5E-9502-E738C07BF88A}" srcId="{9C7EDFF6-BE60-49D2-BB99-B411470C2B92}" destId="{7C2A2F36-5A01-4819-A000-13014D331881}" srcOrd="3" destOrd="0" parTransId="{4022FD26-343B-4F66-89FD-57D7E313C44D}" sibTransId="{14D680F6-DAA9-49CA-8894-C788DD233EE2}"/>
    <dgm:cxn modelId="{9901ED33-1171-4741-9D51-359D1B9D5A62}" type="presOf" srcId="{4F14A70B-A3BB-4161-8774-1C0C3DF8FADD}" destId="{4ACF7253-5A07-4CCB-A1A2-7987556653FD}" srcOrd="1" destOrd="0" presId="urn:microsoft.com/office/officeart/2005/8/layout/list1"/>
    <dgm:cxn modelId="{AA435F3C-0FF2-4412-8D6A-F64F6C8CFD31}" type="presOf" srcId="{416D9C14-B994-4138-8A0D-9C190645C52C}" destId="{7A1906C3-5B79-456B-854C-56A65BE6EA48}" srcOrd="1" destOrd="0" presId="urn:microsoft.com/office/officeart/2005/8/layout/list1"/>
    <dgm:cxn modelId="{C3881766-DB72-49BD-A11E-73DAEC31E34D}" type="presOf" srcId="{416D9C14-B994-4138-8A0D-9C190645C52C}" destId="{6C73A71C-1099-4A0C-9D7F-0EC1E2FF4EDF}" srcOrd="0" destOrd="0" presId="urn:microsoft.com/office/officeart/2005/8/layout/list1"/>
    <dgm:cxn modelId="{13F21567-0DAE-4E30-AC6C-636219540E28}" type="presOf" srcId="{7C2A2F36-5A01-4819-A000-13014D331881}" destId="{D8E0E87E-946E-4408-9807-CA0795280AF6}" srcOrd="1" destOrd="0" presId="urn:microsoft.com/office/officeart/2005/8/layout/list1"/>
    <dgm:cxn modelId="{A982A670-D39E-46A4-A47D-1CB5CA2FCF7D}" type="presOf" srcId="{3E714341-44B1-4002-A0A7-0CBE9FD4D930}" destId="{7A167A84-4767-4620-9C12-058EAFA008D6}" srcOrd="1" destOrd="0" presId="urn:microsoft.com/office/officeart/2005/8/layout/list1"/>
    <dgm:cxn modelId="{D050F575-5ABA-4B63-90CC-82B00A56E87F}" type="presOf" srcId="{4F14A70B-A3BB-4161-8774-1C0C3DF8FADD}" destId="{DCBA16E4-C58D-496D-AEC4-F476CF69B055}" srcOrd="0" destOrd="0" presId="urn:microsoft.com/office/officeart/2005/8/layout/list1"/>
    <dgm:cxn modelId="{26B76391-49C4-4CCC-BAD6-46CA229ABC4B}" srcId="{9C7EDFF6-BE60-49D2-BB99-B411470C2B92}" destId="{4F14A70B-A3BB-4161-8774-1C0C3DF8FADD}" srcOrd="1" destOrd="0" parTransId="{3306FC68-428B-43E4-919A-F455BACDCC43}" sibTransId="{2B74A139-4C0F-4F16-AB35-52E638931EE4}"/>
    <dgm:cxn modelId="{AF64C99F-C77C-4868-887B-8F50A32B2DA8}" type="presOf" srcId="{7C2A2F36-5A01-4819-A000-13014D331881}" destId="{530C8A5F-C1D2-4ADF-B555-D1478274DF08}" srcOrd="0" destOrd="0" presId="urn:microsoft.com/office/officeart/2005/8/layout/list1"/>
    <dgm:cxn modelId="{83FB59A1-1F59-48AC-A710-37A675F75C51}" type="presOf" srcId="{1331F5B0-3E38-4BFB-BE72-415039C2D3C3}" destId="{B342BC45-03B0-4499-97D1-242A48B14625}" srcOrd="0" destOrd="0" presId="urn:microsoft.com/office/officeart/2005/8/layout/list1"/>
    <dgm:cxn modelId="{EFDFD2A3-C359-4105-84BC-C3FAD7F52D10}" type="presOf" srcId="{3E714341-44B1-4002-A0A7-0CBE9FD4D930}" destId="{9A08FC4C-A824-42D3-BC00-3F2D9FBC3ECB}" srcOrd="0" destOrd="0" presId="urn:microsoft.com/office/officeart/2005/8/layout/list1"/>
    <dgm:cxn modelId="{8461B0AF-EAEB-45EB-93EC-9DE8632523FA}" type="presOf" srcId="{1331F5B0-3E38-4BFB-BE72-415039C2D3C3}" destId="{8B06FF99-A79B-47B3-8800-A47199ED8A08}" srcOrd="1" destOrd="0" presId="urn:microsoft.com/office/officeart/2005/8/layout/list1"/>
    <dgm:cxn modelId="{838C43B6-719E-4EA8-AE94-0D49F57E54C5}" srcId="{9C7EDFF6-BE60-49D2-BB99-B411470C2B92}" destId="{1331F5B0-3E38-4BFB-BE72-415039C2D3C3}" srcOrd="4" destOrd="0" parTransId="{10A58958-C9DB-4594-966B-4527830E990A}" sibTransId="{61AD34FA-99F8-4E01-AF71-A002A7B9F8A3}"/>
    <dgm:cxn modelId="{F68C91C4-B80A-4F2C-8A00-CCA1ADC5210A}" type="presOf" srcId="{9C7EDFF6-BE60-49D2-BB99-B411470C2B92}" destId="{164191F1-D507-48FB-82A5-A25ADB2057C1}" srcOrd="0" destOrd="0" presId="urn:microsoft.com/office/officeart/2005/8/layout/list1"/>
    <dgm:cxn modelId="{A611E3F1-4C74-4508-92BF-E8049B17709F}" srcId="{9C7EDFF6-BE60-49D2-BB99-B411470C2B92}" destId="{3E714341-44B1-4002-A0A7-0CBE9FD4D930}" srcOrd="2" destOrd="0" parTransId="{27366653-1498-492C-B7F7-D20CD0FF0782}" sibTransId="{2A301596-3B4D-4D5D-98E8-95542D9E7CD3}"/>
    <dgm:cxn modelId="{8EADD3E7-B9ED-422B-AAA7-3E4F5A4FD6A9}" type="presParOf" srcId="{164191F1-D507-48FB-82A5-A25ADB2057C1}" destId="{984EBDF8-D283-4390-9502-138166F63091}" srcOrd="0" destOrd="0" presId="urn:microsoft.com/office/officeart/2005/8/layout/list1"/>
    <dgm:cxn modelId="{E415A093-B556-4D3E-9870-30B8A7A28F42}" type="presParOf" srcId="{984EBDF8-D283-4390-9502-138166F63091}" destId="{6C73A71C-1099-4A0C-9D7F-0EC1E2FF4EDF}" srcOrd="0" destOrd="0" presId="urn:microsoft.com/office/officeart/2005/8/layout/list1"/>
    <dgm:cxn modelId="{4A32508A-CE8D-4DA1-9EDE-85133B1BD6AA}" type="presParOf" srcId="{984EBDF8-D283-4390-9502-138166F63091}" destId="{7A1906C3-5B79-456B-854C-56A65BE6EA48}" srcOrd="1" destOrd="0" presId="urn:microsoft.com/office/officeart/2005/8/layout/list1"/>
    <dgm:cxn modelId="{4D8986B1-A5A0-401C-80D6-58F252BB0947}" type="presParOf" srcId="{164191F1-D507-48FB-82A5-A25ADB2057C1}" destId="{BDD79A8C-C194-4DB3-9C4D-FCB45F7FC3A0}" srcOrd="1" destOrd="0" presId="urn:microsoft.com/office/officeart/2005/8/layout/list1"/>
    <dgm:cxn modelId="{8D0450A0-EC77-47A6-869C-AF858A98B684}" type="presParOf" srcId="{164191F1-D507-48FB-82A5-A25ADB2057C1}" destId="{C81F3CA7-4BE5-4A90-A044-787EF44AC12B}" srcOrd="2" destOrd="0" presId="urn:microsoft.com/office/officeart/2005/8/layout/list1"/>
    <dgm:cxn modelId="{CAF91ACA-9B18-49FB-A5F3-99AC81508C3D}" type="presParOf" srcId="{164191F1-D507-48FB-82A5-A25ADB2057C1}" destId="{B8D7997F-855A-4BDD-8D55-A0EE865D9EA5}" srcOrd="3" destOrd="0" presId="urn:microsoft.com/office/officeart/2005/8/layout/list1"/>
    <dgm:cxn modelId="{479E6FCA-4588-439F-B76F-163D512EEEBA}" type="presParOf" srcId="{164191F1-D507-48FB-82A5-A25ADB2057C1}" destId="{FB285910-CF06-4DCC-8F5A-25C12F399976}" srcOrd="4" destOrd="0" presId="urn:microsoft.com/office/officeart/2005/8/layout/list1"/>
    <dgm:cxn modelId="{447FBB67-B76D-488A-87AE-AE69390DC8B5}" type="presParOf" srcId="{FB285910-CF06-4DCC-8F5A-25C12F399976}" destId="{DCBA16E4-C58D-496D-AEC4-F476CF69B055}" srcOrd="0" destOrd="0" presId="urn:microsoft.com/office/officeart/2005/8/layout/list1"/>
    <dgm:cxn modelId="{7888A2FE-D5D5-4FE8-860B-9B85D9A3693E}" type="presParOf" srcId="{FB285910-CF06-4DCC-8F5A-25C12F399976}" destId="{4ACF7253-5A07-4CCB-A1A2-7987556653FD}" srcOrd="1" destOrd="0" presId="urn:microsoft.com/office/officeart/2005/8/layout/list1"/>
    <dgm:cxn modelId="{1D33076D-4AB9-4351-9F3D-635D626EC3D6}" type="presParOf" srcId="{164191F1-D507-48FB-82A5-A25ADB2057C1}" destId="{803046C3-9ADC-4A80-9152-256BDB044D67}" srcOrd="5" destOrd="0" presId="urn:microsoft.com/office/officeart/2005/8/layout/list1"/>
    <dgm:cxn modelId="{13D8271B-9020-4230-81C0-A88AFE04A16F}" type="presParOf" srcId="{164191F1-D507-48FB-82A5-A25ADB2057C1}" destId="{B7EACD5D-F2B7-48C8-BDA0-5EF3F996FDE9}" srcOrd="6" destOrd="0" presId="urn:microsoft.com/office/officeart/2005/8/layout/list1"/>
    <dgm:cxn modelId="{22AEBC4A-785E-4020-92F6-F00D49F3E868}" type="presParOf" srcId="{164191F1-D507-48FB-82A5-A25ADB2057C1}" destId="{41C6011D-EB78-455A-9015-7C1E3B52328B}" srcOrd="7" destOrd="0" presId="urn:microsoft.com/office/officeart/2005/8/layout/list1"/>
    <dgm:cxn modelId="{8EF14A95-0ED4-4353-BAC4-0DBF5F05A820}" type="presParOf" srcId="{164191F1-D507-48FB-82A5-A25ADB2057C1}" destId="{EB7D6095-DAF6-4927-8B0B-107EF0BCD24C}" srcOrd="8" destOrd="0" presId="urn:microsoft.com/office/officeart/2005/8/layout/list1"/>
    <dgm:cxn modelId="{E826A8C4-D69E-4EB1-9A5C-B664E7A41088}" type="presParOf" srcId="{EB7D6095-DAF6-4927-8B0B-107EF0BCD24C}" destId="{9A08FC4C-A824-42D3-BC00-3F2D9FBC3ECB}" srcOrd="0" destOrd="0" presId="urn:microsoft.com/office/officeart/2005/8/layout/list1"/>
    <dgm:cxn modelId="{7F997928-EC81-4931-B732-8A0BF4EAB5B1}" type="presParOf" srcId="{EB7D6095-DAF6-4927-8B0B-107EF0BCD24C}" destId="{7A167A84-4767-4620-9C12-058EAFA008D6}" srcOrd="1" destOrd="0" presId="urn:microsoft.com/office/officeart/2005/8/layout/list1"/>
    <dgm:cxn modelId="{FB8F1D08-437C-43E3-BDE6-7FA3B50D4BCA}" type="presParOf" srcId="{164191F1-D507-48FB-82A5-A25ADB2057C1}" destId="{4BCD393D-E0BB-4C99-B84D-9211C66879E0}" srcOrd="9" destOrd="0" presId="urn:microsoft.com/office/officeart/2005/8/layout/list1"/>
    <dgm:cxn modelId="{98C624E1-B321-479D-B23C-01A0B4D1ADBD}" type="presParOf" srcId="{164191F1-D507-48FB-82A5-A25ADB2057C1}" destId="{BD1D72F8-FAD4-4486-BF52-45CEAE0C11E0}" srcOrd="10" destOrd="0" presId="urn:microsoft.com/office/officeart/2005/8/layout/list1"/>
    <dgm:cxn modelId="{FEF62A23-4C78-40A3-A624-048615CAD472}" type="presParOf" srcId="{164191F1-D507-48FB-82A5-A25ADB2057C1}" destId="{07D5661A-E1E1-4757-8468-F1A2D49FF18E}" srcOrd="11" destOrd="0" presId="urn:microsoft.com/office/officeart/2005/8/layout/list1"/>
    <dgm:cxn modelId="{042B84FB-0040-4FFF-ACDB-2EEB5AF6B470}" type="presParOf" srcId="{164191F1-D507-48FB-82A5-A25ADB2057C1}" destId="{19C57C85-509B-4003-8080-84814FAA7E70}" srcOrd="12" destOrd="0" presId="urn:microsoft.com/office/officeart/2005/8/layout/list1"/>
    <dgm:cxn modelId="{5369CEB2-BC7D-4270-AD62-1BFFC104E473}" type="presParOf" srcId="{19C57C85-509B-4003-8080-84814FAA7E70}" destId="{530C8A5F-C1D2-4ADF-B555-D1478274DF08}" srcOrd="0" destOrd="0" presId="urn:microsoft.com/office/officeart/2005/8/layout/list1"/>
    <dgm:cxn modelId="{F754785A-43BE-4AEE-9C33-F8DFC558B75B}" type="presParOf" srcId="{19C57C85-509B-4003-8080-84814FAA7E70}" destId="{D8E0E87E-946E-4408-9807-CA0795280AF6}" srcOrd="1" destOrd="0" presId="urn:microsoft.com/office/officeart/2005/8/layout/list1"/>
    <dgm:cxn modelId="{C8F81658-5324-454D-835B-590BA3BD4372}" type="presParOf" srcId="{164191F1-D507-48FB-82A5-A25ADB2057C1}" destId="{3D115E91-CE8E-47A8-B25A-41285526BF1F}" srcOrd="13" destOrd="0" presId="urn:microsoft.com/office/officeart/2005/8/layout/list1"/>
    <dgm:cxn modelId="{3893A47D-D4B3-421E-B4BE-8B558CD4368E}" type="presParOf" srcId="{164191F1-D507-48FB-82A5-A25ADB2057C1}" destId="{907C39AC-57A4-4FCC-A8E4-2C884DB61618}" srcOrd="14" destOrd="0" presId="urn:microsoft.com/office/officeart/2005/8/layout/list1"/>
    <dgm:cxn modelId="{9242F2C8-84E1-46D9-B976-67FDCBAF6D08}" type="presParOf" srcId="{164191F1-D507-48FB-82A5-A25ADB2057C1}" destId="{59435469-B7EB-42F1-A36C-D0FAC35EE228}" srcOrd="15" destOrd="0" presId="urn:microsoft.com/office/officeart/2005/8/layout/list1"/>
    <dgm:cxn modelId="{D3B66CDF-F473-4B83-95E8-0090A00C5A4E}" type="presParOf" srcId="{164191F1-D507-48FB-82A5-A25ADB2057C1}" destId="{0199C7D5-0085-4C44-87A1-846D4DEC6E90}" srcOrd="16" destOrd="0" presId="urn:microsoft.com/office/officeart/2005/8/layout/list1"/>
    <dgm:cxn modelId="{426937F2-8E9C-4CCE-BCD8-33D0679BCB78}" type="presParOf" srcId="{0199C7D5-0085-4C44-87A1-846D4DEC6E90}" destId="{B342BC45-03B0-4499-97D1-242A48B14625}" srcOrd="0" destOrd="0" presId="urn:microsoft.com/office/officeart/2005/8/layout/list1"/>
    <dgm:cxn modelId="{4EDF681C-EF82-45F8-82C1-F888698AAEEC}" type="presParOf" srcId="{0199C7D5-0085-4C44-87A1-846D4DEC6E90}" destId="{8B06FF99-A79B-47B3-8800-A47199ED8A08}" srcOrd="1" destOrd="0" presId="urn:microsoft.com/office/officeart/2005/8/layout/list1"/>
    <dgm:cxn modelId="{432631AA-B3C8-4029-858F-28876C85E373}" type="presParOf" srcId="{164191F1-D507-48FB-82A5-A25ADB2057C1}" destId="{95F83FB4-8257-40B5-93D5-8D1F5C3F5E01}" srcOrd="17" destOrd="0" presId="urn:microsoft.com/office/officeart/2005/8/layout/list1"/>
    <dgm:cxn modelId="{9AAEE622-70C3-44CB-842F-A28AAAC67310}" type="presParOf" srcId="{164191F1-D507-48FB-82A5-A25ADB2057C1}" destId="{3CBA16D6-339F-4BE8-AB65-C20A57EC26B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BB618F-43F2-4350-BC34-C120084F7DDA}" type="doc">
      <dgm:prSet loTypeId="urn:microsoft.com/office/officeart/2018/2/layout/IconVerticalSolidList" loCatId="icon" qsTypeId="urn:microsoft.com/office/officeart/2005/8/quickstyle/3d3" qsCatId="3D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41DFA3-41CD-4C9F-864B-3D363EF49E6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Objectif du projet :</a:t>
          </a:r>
          <a:r>
            <a:rPr lang="fr-FR" dirty="0"/>
            <a:t> Analyser un jeu de données de ventes hétérogènes pour identifier les véritables leviers de chiffre d'affaires d'un réseau de distribution.</a:t>
          </a:r>
          <a:endParaRPr lang="en-US" dirty="0"/>
        </a:p>
      </dgm:t>
    </dgm:pt>
    <dgm:pt modelId="{538AAAFE-0450-45E5-ACE2-47858044AE0E}" type="parTrans" cxnId="{D853727A-CE31-49E8-9A08-412FE5FFF068}">
      <dgm:prSet/>
      <dgm:spPr/>
      <dgm:t>
        <a:bodyPr/>
        <a:lstStyle/>
        <a:p>
          <a:endParaRPr lang="en-US"/>
        </a:p>
      </dgm:t>
    </dgm:pt>
    <dgm:pt modelId="{D7F64126-6ADA-4FDD-A61E-7A8DC98CD1FF}" type="sibTrans" cxnId="{D853727A-CE31-49E8-9A08-412FE5FFF068}">
      <dgm:prSet/>
      <dgm:spPr/>
      <dgm:t>
        <a:bodyPr/>
        <a:lstStyle/>
        <a:p>
          <a:endParaRPr lang="en-US"/>
        </a:p>
      </dgm:t>
    </dgm:pt>
    <dgm:pt modelId="{1110A296-ADE5-4C75-938C-D8F0E6F4AC6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La problématique :</a:t>
          </a:r>
          <a:r>
            <a:rPr lang="fr-FR" dirty="0"/>
            <a:t> Pourquoi certains magasins performent-ils mieux que d'autres, et comment optimiser l'offre en rayon ?</a:t>
          </a:r>
          <a:endParaRPr lang="en-US" dirty="0"/>
        </a:p>
      </dgm:t>
    </dgm:pt>
    <dgm:pt modelId="{F218A2C4-A1F1-43EF-A337-A4FC5D55A7D2}" type="parTrans" cxnId="{1B036235-81EB-48C4-93C8-4DECEC89D52C}">
      <dgm:prSet/>
      <dgm:spPr/>
      <dgm:t>
        <a:bodyPr/>
        <a:lstStyle/>
        <a:p>
          <a:endParaRPr lang="en-US"/>
        </a:p>
      </dgm:t>
    </dgm:pt>
    <dgm:pt modelId="{5B11B043-2FD7-4F27-BDC0-EA29AD33A984}" type="sibTrans" cxnId="{1B036235-81EB-48C4-93C8-4DECEC89D52C}">
      <dgm:prSet/>
      <dgm:spPr/>
      <dgm:t>
        <a:bodyPr/>
        <a:lstStyle/>
        <a:p>
          <a:endParaRPr lang="en-US"/>
        </a:p>
      </dgm:t>
    </dgm:pt>
    <dgm:pt modelId="{D7148A88-6FE3-4600-8AA1-8656CB4123D9}" type="pres">
      <dgm:prSet presAssocID="{8BBB618F-43F2-4350-BC34-C120084F7DDA}" presName="root" presStyleCnt="0">
        <dgm:presLayoutVars>
          <dgm:dir/>
          <dgm:resizeHandles val="exact"/>
        </dgm:presLayoutVars>
      </dgm:prSet>
      <dgm:spPr/>
    </dgm:pt>
    <dgm:pt modelId="{9B66A45E-7056-4BB0-8200-7F3FCDC9BBEB}" type="pres">
      <dgm:prSet presAssocID="{B541DFA3-41CD-4C9F-864B-3D363EF49E65}" presName="compNode" presStyleCnt="0"/>
      <dgm:spPr/>
    </dgm:pt>
    <dgm:pt modelId="{525A334F-8F30-4F41-B9B9-CA8CE9CB4CF2}" type="pres">
      <dgm:prSet presAssocID="{B541DFA3-41CD-4C9F-864B-3D363EF49E65}" presName="bgRect" presStyleLbl="bgShp" presStyleIdx="0" presStyleCnt="2"/>
      <dgm:spPr/>
    </dgm:pt>
    <dgm:pt modelId="{48758A63-B82B-4369-816F-34B1F94496B9}" type="pres">
      <dgm:prSet presAssocID="{B541DFA3-41CD-4C9F-864B-3D363EF49E6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897DD153-A0E3-47CC-8DC5-A2F1EBA20704}" type="pres">
      <dgm:prSet presAssocID="{B541DFA3-41CD-4C9F-864B-3D363EF49E65}" presName="spaceRect" presStyleCnt="0"/>
      <dgm:spPr/>
    </dgm:pt>
    <dgm:pt modelId="{A642978D-2F31-451F-8425-731E548E3DCA}" type="pres">
      <dgm:prSet presAssocID="{B541DFA3-41CD-4C9F-864B-3D363EF49E65}" presName="parTx" presStyleLbl="revTx" presStyleIdx="0" presStyleCnt="2">
        <dgm:presLayoutVars>
          <dgm:chMax val="0"/>
          <dgm:chPref val="0"/>
        </dgm:presLayoutVars>
      </dgm:prSet>
      <dgm:spPr/>
    </dgm:pt>
    <dgm:pt modelId="{68079D14-85ED-4FFB-BDD7-4065F562C014}" type="pres">
      <dgm:prSet presAssocID="{D7F64126-6ADA-4FDD-A61E-7A8DC98CD1FF}" presName="sibTrans" presStyleCnt="0"/>
      <dgm:spPr/>
    </dgm:pt>
    <dgm:pt modelId="{22228F07-BCE3-4C79-A9B1-CBD12BEB8158}" type="pres">
      <dgm:prSet presAssocID="{1110A296-ADE5-4C75-938C-D8F0E6F4AC61}" presName="compNode" presStyleCnt="0"/>
      <dgm:spPr/>
    </dgm:pt>
    <dgm:pt modelId="{3AD4B174-DD70-4A85-A577-A5B6FFB89E4B}" type="pres">
      <dgm:prSet presAssocID="{1110A296-ADE5-4C75-938C-D8F0E6F4AC61}" presName="bgRect" presStyleLbl="bgShp" presStyleIdx="1" presStyleCnt="2"/>
      <dgm:spPr/>
    </dgm:pt>
    <dgm:pt modelId="{3C1CCEE3-FD3B-414F-BB20-2D6AA52B22BB}" type="pres">
      <dgm:prSet presAssocID="{1110A296-ADE5-4C75-938C-D8F0E6F4AC6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79E5AE04-874B-49FC-8088-BB0896082389}" type="pres">
      <dgm:prSet presAssocID="{1110A296-ADE5-4C75-938C-D8F0E6F4AC61}" presName="spaceRect" presStyleCnt="0"/>
      <dgm:spPr/>
    </dgm:pt>
    <dgm:pt modelId="{62A0E7FD-8D21-4FCC-808E-449C15C2F8C8}" type="pres">
      <dgm:prSet presAssocID="{1110A296-ADE5-4C75-938C-D8F0E6F4AC6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B036235-81EB-48C4-93C8-4DECEC89D52C}" srcId="{8BBB618F-43F2-4350-BC34-C120084F7DDA}" destId="{1110A296-ADE5-4C75-938C-D8F0E6F4AC61}" srcOrd="1" destOrd="0" parTransId="{F218A2C4-A1F1-43EF-A337-A4FC5D55A7D2}" sibTransId="{5B11B043-2FD7-4F27-BDC0-EA29AD33A984}"/>
    <dgm:cxn modelId="{6AFEDB47-E28C-40C4-AB4B-DB821C7178D1}" type="presOf" srcId="{8BBB618F-43F2-4350-BC34-C120084F7DDA}" destId="{D7148A88-6FE3-4600-8AA1-8656CB4123D9}" srcOrd="0" destOrd="0" presId="urn:microsoft.com/office/officeart/2018/2/layout/IconVerticalSolidList"/>
    <dgm:cxn modelId="{D853727A-CE31-49E8-9A08-412FE5FFF068}" srcId="{8BBB618F-43F2-4350-BC34-C120084F7DDA}" destId="{B541DFA3-41CD-4C9F-864B-3D363EF49E65}" srcOrd="0" destOrd="0" parTransId="{538AAAFE-0450-45E5-ACE2-47858044AE0E}" sibTransId="{D7F64126-6ADA-4FDD-A61E-7A8DC98CD1FF}"/>
    <dgm:cxn modelId="{7F89B791-E212-4318-B363-360A7B2E814B}" type="presOf" srcId="{B541DFA3-41CD-4C9F-864B-3D363EF49E65}" destId="{A642978D-2F31-451F-8425-731E548E3DCA}" srcOrd="0" destOrd="0" presId="urn:microsoft.com/office/officeart/2018/2/layout/IconVerticalSolidList"/>
    <dgm:cxn modelId="{73A4DAE0-9C0A-4694-BA97-B51D04E5FF3A}" type="presOf" srcId="{1110A296-ADE5-4C75-938C-D8F0E6F4AC61}" destId="{62A0E7FD-8D21-4FCC-808E-449C15C2F8C8}" srcOrd="0" destOrd="0" presId="urn:microsoft.com/office/officeart/2018/2/layout/IconVerticalSolidList"/>
    <dgm:cxn modelId="{923229E1-98C6-4982-82E2-1621933BA6DB}" type="presParOf" srcId="{D7148A88-6FE3-4600-8AA1-8656CB4123D9}" destId="{9B66A45E-7056-4BB0-8200-7F3FCDC9BBEB}" srcOrd="0" destOrd="0" presId="urn:microsoft.com/office/officeart/2018/2/layout/IconVerticalSolidList"/>
    <dgm:cxn modelId="{ECE3FE82-7564-4EC7-8B4D-32FF27845717}" type="presParOf" srcId="{9B66A45E-7056-4BB0-8200-7F3FCDC9BBEB}" destId="{525A334F-8F30-4F41-B9B9-CA8CE9CB4CF2}" srcOrd="0" destOrd="0" presId="urn:microsoft.com/office/officeart/2018/2/layout/IconVerticalSolidList"/>
    <dgm:cxn modelId="{B884D8C0-A3F1-4B21-88BA-6EEBEAA84EC5}" type="presParOf" srcId="{9B66A45E-7056-4BB0-8200-7F3FCDC9BBEB}" destId="{48758A63-B82B-4369-816F-34B1F94496B9}" srcOrd="1" destOrd="0" presId="urn:microsoft.com/office/officeart/2018/2/layout/IconVerticalSolidList"/>
    <dgm:cxn modelId="{2147FDA9-0892-492E-B4EB-8009E139B258}" type="presParOf" srcId="{9B66A45E-7056-4BB0-8200-7F3FCDC9BBEB}" destId="{897DD153-A0E3-47CC-8DC5-A2F1EBA20704}" srcOrd="2" destOrd="0" presId="urn:microsoft.com/office/officeart/2018/2/layout/IconVerticalSolidList"/>
    <dgm:cxn modelId="{76DC15F2-CB04-43A7-82EE-B030283F0186}" type="presParOf" srcId="{9B66A45E-7056-4BB0-8200-7F3FCDC9BBEB}" destId="{A642978D-2F31-451F-8425-731E548E3DCA}" srcOrd="3" destOrd="0" presId="urn:microsoft.com/office/officeart/2018/2/layout/IconVerticalSolidList"/>
    <dgm:cxn modelId="{8FA7CCD4-B6D5-43CB-81AB-336218646CB8}" type="presParOf" srcId="{D7148A88-6FE3-4600-8AA1-8656CB4123D9}" destId="{68079D14-85ED-4FFB-BDD7-4065F562C014}" srcOrd="1" destOrd="0" presId="urn:microsoft.com/office/officeart/2018/2/layout/IconVerticalSolidList"/>
    <dgm:cxn modelId="{F1D2F5E5-5AB1-42E4-915B-DD1619FC5D94}" type="presParOf" srcId="{D7148A88-6FE3-4600-8AA1-8656CB4123D9}" destId="{22228F07-BCE3-4C79-A9B1-CBD12BEB8158}" srcOrd="2" destOrd="0" presId="urn:microsoft.com/office/officeart/2018/2/layout/IconVerticalSolidList"/>
    <dgm:cxn modelId="{BAA0BEB1-BE8C-451F-887B-102CD21E9D4B}" type="presParOf" srcId="{22228F07-BCE3-4C79-A9B1-CBD12BEB8158}" destId="{3AD4B174-DD70-4A85-A577-A5B6FFB89E4B}" srcOrd="0" destOrd="0" presId="urn:microsoft.com/office/officeart/2018/2/layout/IconVerticalSolidList"/>
    <dgm:cxn modelId="{2C2257BA-D873-44DF-B139-BC840322E520}" type="presParOf" srcId="{22228F07-BCE3-4C79-A9B1-CBD12BEB8158}" destId="{3C1CCEE3-FD3B-414F-BB20-2D6AA52B22BB}" srcOrd="1" destOrd="0" presId="urn:microsoft.com/office/officeart/2018/2/layout/IconVerticalSolidList"/>
    <dgm:cxn modelId="{22FFD14F-409E-4173-BB74-8D36DF84AFB4}" type="presParOf" srcId="{22228F07-BCE3-4C79-A9B1-CBD12BEB8158}" destId="{79E5AE04-874B-49FC-8088-BB0896082389}" srcOrd="2" destOrd="0" presId="urn:microsoft.com/office/officeart/2018/2/layout/IconVerticalSolidList"/>
    <dgm:cxn modelId="{AAFBCE71-5B63-4801-80A8-C2D8539B48EB}" type="presParOf" srcId="{22228F07-BCE3-4C79-A9B1-CBD12BEB8158}" destId="{62A0E7FD-8D21-4FCC-808E-449C15C2F8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BD4175-85C0-43DA-9865-E7A33882331D}" type="doc">
      <dgm:prSet loTypeId="urn:microsoft.com/office/officeart/2018/2/layout/IconVerticalSolidList" loCatId="icon" qsTypeId="urn:microsoft.com/office/officeart/2005/8/quickstyle/3d3" qsCatId="3D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3F042F-5620-4A1B-8114-5FD3FE2C532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Le défi :</a:t>
          </a:r>
          <a:r>
            <a:rPr lang="fr-FR" dirty="0"/>
            <a:t> Des données brutes imparfaites (17% de valeurs manquantes sur les poids, catégories mal renseignées).</a:t>
          </a:r>
          <a:endParaRPr lang="en-US" dirty="0"/>
        </a:p>
      </dgm:t>
    </dgm:pt>
    <dgm:pt modelId="{AFCA7B52-628D-42B7-BA27-9573DC26CB7D}" type="parTrans" cxnId="{F2F57BD5-6927-4DE7-A0F1-88CB560869CB}">
      <dgm:prSet/>
      <dgm:spPr/>
      <dgm:t>
        <a:bodyPr/>
        <a:lstStyle/>
        <a:p>
          <a:endParaRPr lang="en-US"/>
        </a:p>
      </dgm:t>
    </dgm:pt>
    <dgm:pt modelId="{BB766CF6-0E81-40B2-9681-9D55DE31260C}" type="sibTrans" cxnId="{F2F57BD5-6927-4DE7-A0F1-88CB560869CB}">
      <dgm:prSet/>
      <dgm:spPr/>
      <dgm:t>
        <a:bodyPr/>
        <a:lstStyle/>
        <a:p>
          <a:endParaRPr lang="en-US"/>
        </a:p>
      </dgm:t>
    </dgm:pt>
    <dgm:pt modelId="{3DD99FD8-7D91-4894-97EE-801C04A171C2}" type="pres">
      <dgm:prSet presAssocID="{E7BD4175-85C0-43DA-9865-E7A33882331D}" presName="root" presStyleCnt="0">
        <dgm:presLayoutVars>
          <dgm:dir/>
          <dgm:resizeHandles val="exact"/>
        </dgm:presLayoutVars>
      </dgm:prSet>
      <dgm:spPr/>
    </dgm:pt>
    <dgm:pt modelId="{9AB55FAA-82DF-474D-84DD-7AD257352649}" type="pres">
      <dgm:prSet presAssocID="{433F042F-5620-4A1B-8114-5FD3FE2C5321}" presName="compNode" presStyleCnt="0"/>
      <dgm:spPr/>
    </dgm:pt>
    <dgm:pt modelId="{E5CE07D7-F9F5-45BB-99B3-FBADB3545D74}" type="pres">
      <dgm:prSet presAssocID="{433F042F-5620-4A1B-8114-5FD3FE2C5321}" presName="bgRect" presStyleLbl="bgShp" presStyleIdx="0" presStyleCnt="1"/>
      <dgm:spPr/>
    </dgm:pt>
    <dgm:pt modelId="{13E5FCA7-78A6-4992-A742-C23DF24B29D3}" type="pres">
      <dgm:prSet presAssocID="{433F042F-5620-4A1B-8114-5FD3FE2C5321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ématiques"/>
        </a:ext>
      </dgm:extLst>
    </dgm:pt>
    <dgm:pt modelId="{0A8CE8EA-A65B-44B3-92C5-155417358447}" type="pres">
      <dgm:prSet presAssocID="{433F042F-5620-4A1B-8114-5FD3FE2C5321}" presName="spaceRect" presStyleCnt="0"/>
      <dgm:spPr/>
    </dgm:pt>
    <dgm:pt modelId="{31F7EE20-F581-4822-BDBD-D4EA26AEEEDB}" type="pres">
      <dgm:prSet presAssocID="{433F042F-5620-4A1B-8114-5FD3FE2C5321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C691BC88-7721-465B-B1C9-014903517974}" type="presOf" srcId="{433F042F-5620-4A1B-8114-5FD3FE2C5321}" destId="{31F7EE20-F581-4822-BDBD-D4EA26AEEEDB}" srcOrd="0" destOrd="0" presId="urn:microsoft.com/office/officeart/2018/2/layout/IconVerticalSolidList"/>
    <dgm:cxn modelId="{371967CF-F14E-4FB7-B57D-5B4BCC046DBA}" type="presOf" srcId="{E7BD4175-85C0-43DA-9865-E7A33882331D}" destId="{3DD99FD8-7D91-4894-97EE-801C04A171C2}" srcOrd="0" destOrd="0" presId="urn:microsoft.com/office/officeart/2018/2/layout/IconVerticalSolidList"/>
    <dgm:cxn modelId="{F2F57BD5-6927-4DE7-A0F1-88CB560869CB}" srcId="{E7BD4175-85C0-43DA-9865-E7A33882331D}" destId="{433F042F-5620-4A1B-8114-5FD3FE2C5321}" srcOrd="0" destOrd="0" parTransId="{AFCA7B52-628D-42B7-BA27-9573DC26CB7D}" sibTransId="{BB766CF6-0E81-40B2-9681-9D55DE31260C}"/>
    <dgm:cxn modelId="{6D5740F1-9ACC-4F33-8FCD-AFE7DAD26B46}" type="presParOf" srcId="{3DD99FD8-7D91-4894-97EE-801C04A171C2}" destId="{9AB55FAA-82DF-474D-84DD-7AD257352649}" srcOrd="0" destOrd="0" presId="urn:microsoft.com/office/officeart/2018/2/layout/IconVerticalSolidList"/>
    <dgm:cxn modelId="{95680967-0F10-4F84-BADC-D6B37DDDBC7A}" type="presParOf" srcId="{9AB55FAA-82DF-474D-84DD-7AD257352649}" destId="{E5CE07D7-F9F5-45BB-99B3-FBADB3545D74}" srcOrd="0" destOrd="0" presId="urn:microsoft.com/office/officeart/2018/2/layout/IconVerticalSolidList"/>
    <dgm:cxn modelId="{A64B030F-0BC7-4437-8710-F2CFF5324C6A}" type="presParOf" srcId="{9AB55FAA-82DF-474D-84DD-7AD257352649}" destId="{13E5FCA7-78A6-4992-A742-C23DF24B29D3}" srcOrd="1" destOrd="0" presId="urn:microsoft.com/office/officeart/2018/2/layout/IconVerticalSolidList"/>
    <dgm:cxn modelId="{4BFE9E0E-7B85-4048-A86E-ACDE37D29C6A}" type="presParOf" srcId="{9AB55FAA-82DF-474D-84DD-7AD257352649}" destId="{0A8CE8EA-A65B-44B3-92C5-155417358447}" srcOrd="2" destOrd="0" presId="urn:microsoft.com/office/officeart/2018/2/layout/IconVerticalSolidList"/>
    <dgm:cxn modelId="{56D65122-85D6-4073-B9E0-15D10595E9BF}" type="presParOf" srcId="{9AB55FAA-82DF-474D-84DD-7AD257352649}" destId="{31F7EE20-F581-4822-BDBD-D4EA26AEEE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BB618F-43F2-4350-BC34-C120084F7DDA}" type="doc">
      <dgm:prSet loTypeId="urn:microsoft.com/office/officeart/2018/2/layout/IconVerticalSolidList" loCatId="icon" qsTypeId="urn:microsoft.com/office/officeart/2005/8/quickstyle/3d3" qsCatId="3D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41DFA3-41CD-4C9F-864B-3D363EF49E6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Contenu :</a:t>
          </a:r>
          <a:r>
            <a:rPr lang="fr-FR" dirty="0"/>
            <a:t> Ce projet d'analyse, au cœur de mon parcours de Bachelor 2 en informatique, a marqué un véritable pont entre la programmation logicielle et la Data Science :</a:t>
          </a:r>
          <a:endParaRPr lang="en-US" dirty="0"/>
        </a:p>
      </dgm:t>
    </dgm:pt>
    <dgm:pt modelId="{538AAAFE-0450-45E5-ACE2-47858044AE0E}" type="parTrans" cxnId="{D853727A-CE31-49E8-9A08-412FE5FFF068}">
      <dgm:prSet/>
      <dgm:spPr/>
      <dgm:t>
        <a:bodyPr/>
        <a:lstStyle/>
        <a:p>
          <a:endParaRPr lang="en-US"/>
        </a:p>
      </dgm:t>
    </dgm:pt>
    <dgm:pt modelId="{D7F64126-6ADA-4FDD-A61E-7A8DC98CD1FF}" type="sibTrans" cxnId="{D853727A-CE31-49E8-9A08-412FE5FFF068}">
      <dgm:prSet/>
      <dgm:spPr/>
      <dgm:t>
        <a:bodyPr/>
        <a:lstStyle/>
        <a:p>
          <a:endParaRPr lang="en-US"/>
        </a:p>
      </dgm:t>
    </dgm:pt>
    <dgm:pt modelId="{C5C7315D-3C89-4C08-A454-75122CACC8F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Changement de paradigme :</a:t>
          </a:r>
          <a:r>
            <a:rPr lang="fr-FR" dirty="0"/>
            <a:t> Le passage d'une logique algorithmique classique (comme l'optimisation minutieuse des boucles et des tableaux en C#) à la puissance de la vectorisation sous </a:t>
          </a:r>
          <a:r>
            <a:rPr lang="fr-FR" dirty="0" err="1"/>
            <a:t>NumPy</a:t>
          </a:r>
          <a:r>
            <a:rPr lang="fr-FR" dirty="0"/>
            <a:t> et Pandas.</a:t>
          </a:r>
        </a:p>
      </dgm:t>
    </dgm:pt>
    <dgm:pt modelId="{86DE673C-1F55-459C-9CB6-667BA93B3987}" type="parTrans" cxnId="{4CEEF9F2-1968-4E9E-B28D-BEBDDD01FA03}">
      <dgm:prSet/>
      <dgm:spPr/>
      <dgm:t>
        <a:bodyPr/>
        <a:lstStyle/>
        <a:p>
          <a:endParaRPr lang="fr-FR"/>
        </a:p>
      </dgm:t>
    </dgm:pt>
    <dgm:pt modelId="{71858F49-222B-4117-9614-459C6B8A3C27}" type="sibTrans" cxnId="{4CEEF9F2-1968-4E9E-B28D-BEBDDD01FA03}">
      <dgm:prSet/>
      <dgm:spPr/>
      <dgm:t>
        <a:bodyPr/>
        <a:lstStyle/>
        <a:p>
          <a:endParaRPr lang="fr-FR"/>
        </a:p>
      </dgm:t>
    </dgm:pt>
    <dgm:pt modelId="{68C5E082-6625-4D82-B129-E7942473ADE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Rigueur analytique :</a:t>
          </a:r>
          <a:r>
            <a:rPr lang="fr-FR"/>
            <a:t> Comprendre qu'un résultat n'est valable que si la donnée source est correctement traitée en amont (l'importance de l'audit et du nettoyage sans dénaturer le dataset).</a:t>
          </a:r>
          <a:endParaRPr lang="fr-FR" dirty="0"/>
        </a:p>
      </dgm:t>
    </dgm:pt>
    <dgm:pt modelId="{5EDC9561-DC38-469D-81FB-FF49CB7BC27E}" type="parTrans" cxnId="{1B3B1302-AAF4-4242-8B12-F43CFD8B4604}">
      <dgm:prSet/>
      <dgm:spPr/>
      <dgm:t>
        <a:bodyPr/>
        <a:lstStyle/>
        <a:p>
          <a:endParaRPr lang="fr-FR"/>
        </a:p>
      </dgm:t>
    </dgm:pt>
    <dgm:pt modelId="{7B280857-D9BB-4FF8-AF32-07CFB272145D}" type="sibTrans" cxnId="{1B3B1302-AAF4-4242-8B12-F43CFD8B4604}">
      <dgm:prSet/>
      <dgm:spPr/>
      <dgm:t>
        <a:bodyPr/>
        <a:lstStyle/>
        <a:p>
          <a:endParaRPr lang="fr-FR"/>
        </a:p>
      </dgm:t>
    </dgm:pt>
    <dgm:pt modelId="{D0B78273-59B7-40D4-BC67-38B48440C48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Communication :</a:t>
          </a:r>
          <a:r>
            <a:rPr lang="fr-FR" dirty="0"/>
            <a:t> Apprendre à traduire un code complexe en recommandations lisibles pour une direction régionale (Storytelling visuel avec </a:t>
          </a:r>
          <a:r>
            <a:rPr lang="fr-FR" dirty="0" err="1"/>
            <a:t>Matplotlib</a:t>
          </a:r>
          <a:r>
            <a:rPr lang="fr-FR" dirty="0"/>
            <a:t>).</a:t>
          </a:r>
        </a:p>
      </dgm:t>
    </dgm:pt>
    <dgm:pt modelId="{242AF9DB-5E75-4478-B90E-7AC0C2AF7717}" type="parTrans" cxnId="{73E1AFEC-093B-472C-A3AD-01CAA8A227AE}">
      <dgm:prSet/>
      <dgm:spPr/>
      <dgm:t>
        <a:bodyPr/>
        <a:lstStyle/>
        <a:p>
          <a:endParaRPr lang="fr-FR"/>
        </a:p>
      </dgm:t>
    </dgm:pt>
    <dgm:pt modelId="{D692FD8F-F56B-4374-AF9C-919353E31D27}" type="sibTrans" cxnId="{73E1AFEC-093B-472C-A3AD-01CAA8A227AE}">
      <dgm:prSet/>
      <dgm:spPr/>
      <dgm:t>
        <a:bodyPr/>
        <a:lstStyle/>
        <a:p>
          <a:endParaRPr lang="fr-FR"/>
        </a:p>
      </dgm:t>
    </dgm:pt>
    <dgm:pt modelId="{D7148A88-6FE3-4600-8AA1-8656CB4123D9}" type="pres">
      <dgm:prSet presAssocID="{8BBB618F-43F2-4350-BC34-C120084F7DDA}" presName="root" presStyleCnt="0">
        <dgm:presLayoutVars>
          <dgm:dir/>
          <dgm:resizeHandles val="exact"/>
        </dgm:presLayoutVars>
      </dgm:prSet>
      <dgm:spPr/>
    </dgm:pt>
    <dgm:pt modelId="{9B66A45E-7056-4BB0-8200-7F3FCDC9BBEB}" type="pres">
      <dgm:prSet presAssocID="{B541DFA3-41CD-4C9F-864B-3D363EF49E65}" presName="compNode" presStyleCnt="0"/>
      <dgm:spPr/>
    </dgm:pt>
    <dgm:pt modelId="{525A334F-8F30-4F41-B9B9-CA8CE9CB4CF2}" type="pres">
      <dgm:prSet presAssocID="{B541DFA3-41CD-4C9F-864B-3D363EF49E65}" presName="bgRect" presStyleLbl="bgShp" presStyleIdx="0" presStyleCnt="4"/>
      <dgm:spPr/>
    </dgm:pt>
    <dgm:pt modelId="{48758A63-B82B-4369-816F-34B1F94496B9}" type="pres">
      <dgm:prSet presAssocID="{B541DFA3-41CD-4C9F-864B-3D363EF49E6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897DD153-A0E3-47CC-8DC5-A2F1EBA20704}" type="pres">
      <dgm:prSet presAssocID="{B541DFA3-41CD-4C9F-864B-3D363EF49E65}" presName="spaceRect" presStyleCnt="0"/>
      <dgm:spPr/>
    </dgm:pt>
    <dgm:pt modelId="{A642978D-2F31-451F-8425-731E548E3DCA}" type="pres">
      <dgm:prSet presAssocID="{B541DFA3-41CD-4C9F-864B-3D363EF49E65}" presName="parTx" presStyleLbl="revTx" presStyleIdx="0" presStyleCnt="4">
        <dgm:presLayoutVars>
          <dgm:chMax val="0"/>
          <dgm:chPref val="0"/>
        </dgm:presLayoutVars>
      </dgm:prSet>
      <dgm:spPr/>
    </dgm:pt>
    <dgm:pt modelId="{68079D14-85ED-4FFB-BDD7-4065F562C014}" type="pres">
      <dgm:prSet presAssocID="{D7F64126-6ADA-4FDD-A61E-7A8DC98CD1FF}" presName="sibTrans" presStyleCnt="0"/>
      <dgm:spPr/>
    </dgm:pt>
    <dgm:pt modelId="{3C087808-986A-4CD5-AC1E-E5F559C1C8B2}" type="pres">
      <dgm:prSet presAssocID="{C5C7315D-3C89-4C08-A454-75122CACC8F6}" presName="compNode" presStyleCnt="0"/>
      <dgm:spPr/>
    </dgm:pt>
    <dgm:pt modelId="{03C8DB35-720E-43A7-988A-106EE23839A3}" type="pres">
      <dgm:prSet presAssocID="{C5C7315D-3C89-4C08-A454-75122CACC8F6}" presName="bgRect" presStyleLbl="bgShp" presStyleIdx="1" presStyleCnt="4"/>
      <dgm:spPr/>
    </dgm:pt>
    <dgm:pt modelId="{FD01BD4B-3B15-485A-A7FA-F1F3DAFF015E}" type="pres">
      <dgm:prSet presAssocID="{C5C7315D-3C89-4C08-A454-75122CACC8F6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ndance à la hausse avec un remplissage uni"/>
        </a:ext>
      </dgm:extLst>
    </dgm:pt>
    <dgm:pt modelId="{2CE033D5-D94C-41DD-8C90-91C8D506A7D9}" type="pres">
      <dgm:prSet presAssocID="{C5C7315D-3C89-4C08-A454-75122CACC8F6}" presName="spaceRect" presStyleCnt="0"/>
      <dgm:spPr/>
    </dgm:pt>
    <dgm:pt modelId="{D1775F50-465D-4A93-9AF2-14CA82B29AE4}" type="pres">
      <dgm:prSet presAssocID="{C5C7315D-3C89-4C08-A454-75122CACC8F6}" presName="parTx" presStyleLbl="revTx" presStyleIdx="1" presStyleCnt="4">
        <dgm:presLayoutVars>
          <dgm:chMax val="0"/>
          <dgm:chPref val="0"/>
        </dgm:presLayoutVars>
      </dgm:prSet>
      <dgm:spPr/>
    </dgm:pt>
    <dgm:pt modelId="{225B434C-3CC4-44C4-8A53-E628681CC947}" type="pres">
      <dgm:prSet presAssocID="{71858F49-222B-4117-9614-459C6B8A3C27}" presName="sibTrans" presStyleCnt="0"/>
      <dgm:spPr/>
    </dgm:pt>
    <dgm:pt modelId="{81F84C8C-CEE0-4905-A41F-C2917E5BE2DD}" type="pres">
      <dgm:prSet presAssocID="{68C5E082-6625-4D82-B129-E7942473ADE7}" presName="compNode" presStyleCnt="0"/>
      <dgm:spPr/>
    </dgm:pt>
    <dgm:pt modelId="{5A97CB74-659E-4A35-B34D-ECB86BFC7E8C}" type="pres">
      <dgm:prSet presAssocID="{68C5E082-6625-4D82-B129-E7942473ADE7}" presName="bgRect" presStyleLbl="bgShp" presStyleIdx="2" presStyleCnt="4"/>
      <dgm:spPr/>
    </dgm:pt>
    <dgm:pt modelId="{D9FDCFDB-3FBC-43AE-B236-70725C192F89}" type="pres">
      <dgm:prSet presAssocID="{68C5E082-6625-4D82-B129-E7942473ADE7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Tick1 avec un remplissage uni"/>
        </a:ext>
      </dgm:extLst>
    </dgm:pt>
    <dgm:pt modelId="{21E8B934-1983-4960-B555-955273176012}" type="pres">
      <dgm:prSet presAssocID="{68C5E082-6625-4D82-B129-E7942473ADE7}" presName="spaceRect" presStyleCnt="0"/>
      <dgm:spPr/>
    </dgm:pt>
    <dgm:pt modelId="{8BF29F48-85B0-4A7E-8F99-7F295AB85766}" type="pres">
      <dgm:prSet presAssocID="{68C5E082-6625-4D82-B129-E7942473ADE7}" presName="parTx" presStyleLbl="revTx" presStyleIdx="2" presStyleCnt="4">
        <dgm:presLayoutVars>
          <dgm:chMax val="0"/>
          <dgm:chPref val="0"/>
        </dgm:presLayoutVars>
      </dgm:prSet>
      <dgm:spPr/>
    </dgm:pt>
    <dgm:pt modelId="{C65436F5-EF33-48AF-A67E-F91ED8A21C2E}" type="pres">
      <dgm:prSet presAssocID="{7B280857-D9BB-4FF8-AF32-07CFB272145D}" presName="sibTrans" presStyleCnt="0"/>
      <dgm:spPr/>
    </dgm:pt>
    <dgm:pt modelId="{237607B1-1BAD-4472-BF90-87BCA0644B35}" type="pres">
      <dgm:prSet presAssocID="{D0B78273-59B7-40D4-BC67-38B48440C486}" presName="compNode" presStyleCnt="0"/>
      <dgm:spPr/>
    </dgm:pt>
    <dgm:pt modelId="{2E86427E-02AF-49A0-8DE1-D32EA0409129}" type="pres">
      <dgm:prSet presAssocID="{D0B78273-59B7-40D4-BC67-38B48440C486}" presName="bgRect" presStyleLbl="bgShp" presStyleIdx="3" presStyleCnt="4"/>
      <dgm:spPr/>
    </dgm:pt>
    <dgm:pt modelId="{CF4EB781-3CDB-46BA-814C-DA8A1ABF9DAC}" type="pres">
      <dgm:prSet presAssocID="{D0B78273-59B7-40D4-BC67-38B48440C486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avec un remplissage uni"/>
        </a:ext>
      </dgm:extLst>
    </dgm:pt>
    <dgm:pt modelId="{47110ABA-5A65-48A8-92F4-829B87172D93}" type="pres">
      <dgm:prSet presAssocID="{D0B78273-59B7-40D4-BC67-38B48440C486}" presName="spaceRect" presStyleCnt="0"/>
      <dgm:spPr/>
    </dgm:pt>
    <dgm:pt modelId="{BB7AB933-D2E2-4C46-8833-FB6990CA8079}" type="pres">
      <dgm:prSet presAssocID="{D0B78273-59B7-40D4-BC67-38B48440C4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B3B1302-AAF4-4242-8B12-F43CFD8B4604}" srcId="{8BBB618F-43F2-4350-BC34-C120084F7DDA}" destId="{68C5E082-6625-4D82-B129-E7942473ADE7}" srcOrd="2" destOrd="0" parTransId="{5EDC9561-DC38-469D-81FB-FF49CB7BC27E}" sibTransId="{7B280857-D9BB-4FF8-AF32-07CFB272145D}"/>
    <dgm:cxn modelId="{CB5B0F2F-6264-412B-8B61-2D098E67B966}" type="presOf" srcId="{D0B78273-59B7-40D4-BC67-38B48440C486}" destId="{BB7AB933-D2E2-4C46-8833-FB6990CA8079}" srcOrd="0" destOrd="0" presId="urn:microsoft.com/office/officeart/2018/2/layout/IconVerticalSolidList"/>
    <dgm:cxn modelId="{6AFEDB47-E28C-40C4-AB4B-DB821C7178D1}" type="presOf" srcId="{8BBB618F-43F2-4350-BC34-C120084F7DDA}" destId="{D7148A88-6FE3-4600-8AA1-8656CB4123D9}" srcOrd="0" destOrd="0" presId="urn:microsoft.com/office/officeart/2018/2/layout/IconVerticalSolidList"/>
    <dgm:cxn modelId="{D853727A-CE31-49E8-9A08-412FE5FFF068}" srcId="{8BBB618F-43F2-4350-BC34-C120084F7DDA}" destId="{B541DFA3-41CD-4C9F-864B-3D363EF49E65}" srcOrd="0" destOrd="0" parTransId="{538AAAFE-0450-45E5-ACE2-47858044AE0E}" sibTransId="{D7F64126-6ADA-4FDD-A61E-7A8DC98CD1FF}"/>
    <dgm:cxn modelId="{7F89B791-E212-4318-B363-360A7B2E814B}" type="presOf" srcId="{B541DFA3-41CD-4C9F-864B-3D363EF49E65}" destId="{A642978D-2F31-451F-8425-731E548E3DCA}" srcOrd="0" destOrd="0" presId="urn:microsoft.com/office/officeart/2018/2/layout/IconVerticalSolidList"/>
    <dgm:cxn modelId="{FC21E5DB-102C-40E4-AACF-86FB3525D7D3}" type="presOf" srcId="{68C5E082-6625-4D82-B129-E7942473ADE7}" destId="{8BF29F48-85B0-4A7E-8F99-7F295AB85766}" srcOrd="0" destOrd="0" presId="urn:microsoft.com/office/officeart/2018/2/layout/IconVerticalSolidList"/>
    <dgm:cxn modelId="{06ACEFE4-D0E1-4996-A3CF-2C4315679283}" type="presOf" srcId="{C5C7315D-3C89-4C08-A454-75122CACC8F6}" destId="{D1775F50-465D-4A93-9AF2-14CA82B29AE4}" srcOrd="0" destOrd="0" presId="urn:microsoft.com/office/officeart/2018/2/layout/IconVerticalSolidList"/>
    <dgm:cxn modelId="{73E1AFEC-093B-472C-A3AD-01CAA8A227AE}" srcId="{8BBB618F-43F2-4350-BC34-C120084F7DDA}" destId="{D0B78273-59B7-40D4-BC67-38B48440C486}" srcOrd="3" destOrd="0" parTransId="{242AF9DB-5E75-4478-B90E-7AC0C2AF7717}" sibTransId="{D692FD8F-F56B-4374-AF9C-919353E31D27}"/>
    <dgm:cxn modelId="{4CEEF9F2-1968-4E9E-B28D-BEBDDD01FA03}" srcId="{8BBB618F-43F2-4350-BC34-C120084F7DDA}" destId="{C5C7315D-3C89-4C08-A454-75122CACC8F6}" srcOrd="1" destOrd="0" parTransId="{86DE673C-1F55-459C-9CB6-667BA93B3987}" sibTransId="{71858F49-222B-4117-9614-459C6B8A3C27}"/>
    <dgm:cxn modelId="{923229E1-98C6-4982-82E2-1621933BA6DB}" type="presParOf" srcId="{D7148A88-6FE3-4600-8AA1-8656CB4123D9}" destId="{9B66A45E-7056-4BB0-8200-7F3FCDC9BBEB}" srcOrd="0" destOrd="0" presId="urn:microsoft.com/office/officeart/2018/2/layout/IconVerticalSolidList"/>
    <dgm:cxn modelId="{ECE3FE82-7564-4EC7-8B4D-32FF27845717}" type="presParOf" srcId="{9B66A45E-7056-4BB0-8200-7F3FCDC9BBEB}" destId="{525A334F-8F30-4F41-B9B9-CA8CE9CB4CF2}" srcOrd="0" destOrd="0" presId="urn:microsoft.com/office/officeart/2018/2/layout/IconVerticalSolidList"/>
    <dgm:cxn modelId="{B884D8C0-A3F1-4B21-88BA-6EEBEAA84EC5}" type="presParOf" srcId="{9B66A45E-7056-4BB0-8200-7F3FCDC9BBEB}" destId="{48758A63-B82B-4369-816F-34B1F94496B9}" srcOrd="1" destOrd="0" presId="urn:microsoft.com/office/officeart/2018/2/layout/IconVerticalSolidList"/>
    <dgm:cxn modelId="{2147FDA9-0892-492E-B4EB-8009E139B258}" type="presParOf" srcId="{9B66A45E-7056-4BB0-8200-7F3FCDC9BBEB}" destId="{897DD153-A0E3-47CC-8DC5-A2F1EBA20704}" srcOrd="2" destOrd="0" presId="urn:microsoft.com/office/officeart/2018/2/layout/IconVerticalSolidList"/>
    <dgm:cxn modelId="{76DC15F2-CB04-43A7-82EE-B030283F0186}" type="presParOf" srcId="{9B66A45E-7056-4BB0-8200-7F3FCDC9BBEB}" destId="{A642978D-2F31-451F-8425-731E548E3DCA}" srcOrd="3" destOrd="0" presId="urn:microsoft.com/office/officeart/2018/2/layout/IconVerticalSolidList"/>
    <dgm:cxn modelId="{8FA7CCD4-B6D5-43CB-81AB-336218646CB8}" type="presParOf" srcId="{D7148A88-6FE3-4600-8AA1-8656CB4123D9}" destId="{68079D14-85ED-4FFB-BDD7-4065F562C014}" srcOrd="1" destOrd="0" presId="urn:microsoft.com/office/officeart/2018/2/layout/IconVerticalSolidList"/>
    <dgm:cxn modelId="{A86CDA9A-1398-4A36-AB3C-2E0ABBA8612A}" type="presParOf" srcId="{D7148A88-6FE3-4600-8AA1-8656CB4123D9}" destId="{3C087808-986A-4CD5-AC1E-E5F559C1C8B2}" srcOrd="2" destOrd="0" presId="urn:microsoft.com/office/officeart/2018/2/layout/IconVerticalSolidList"/>
    <dgm:cxn modelId="{34C567B8-C222-4B21-A01E-7ACAE29A52C1}" type="presParOf" srcId="{3C087808-986A-4CD5-AC1E-E5F559C1C8B2}" destId="{03C8DB35-720E-43A7-988A-106EE23839A3}" srcOrd="0" destOrd="0" presId="urn:microsoft.com/office/officeart/2018/2/layout/IconVerticalSolidList"/>
    <dgm:cxn modelId="{535FD5D2-25AA-4F31-80B3-15C2CBF99FBB}" type="presParOf" srcId="{3C087808-986A-4CD5-AC1E-E5F559C1C8B2}" destId="{FD01BD4B-3B15-485A-A7FA-F1F3DAFF015E}" srcOrd="1" destOrd="0" presId="urn:microsoft.com/office/officeart/2018/2/layout/IconVerticalSolidList"/>
    <dgm:cxn modelId="{0B6D1F92-9A86-443D-A816-DFE087F27FA9}" type="presParOf" srcId="{3C087808-986A-4CD5-AC1E-E5F559C1C8B2}" destId="{2CE033D5-D94C-41DD-8C90-91C8D506A7D9}" srcOrd="2" destOrd="0" presId="urn:microsoft.com/office/officeart/2018/2/layout/IconVerticalSolidList"/>
    <dgm:cxn modelId="{3062C745-634A-4AB2-8069-EDE75310E284}" type="presParOf" srcId="{3C087808-986A-4CD5-AC1E-E5F559C1C8B2}" destId="{D1775F50-465D-4A93-9AF2-14CA82B29AE4}" srcOrd="3" destOrd="0" presId="urn:microsoft.com/office/officeart/2018/2/layout/IconVerticalSolidList"/>
    <dgm:cxn modelId="{08CB656B-79C6-4B73-B33C-3CBB2A633AE6}" type="presParOf" srcId="{D7148A88-6FE3-4600-8AA1-8656CB4123D9}" destId="{225B434C-3CC4-44C4-8A53-E628681CC947}" srcOrd="3" destOrd="0" presId="urn:microsoft.com/office/officeart/2018/2/layout/IconVerticalSolidList"/>
    <dgm:cxn modelId="{410B532B-F9A8-4DD6-99E7-829094CDC71C}" type="presParOf" srcId="{D7148A88-6FE3-4600-8AA1-8656CB4123D9}" destId="{81F84C8C-CEE0-4905-A41F-C2917E5BE2DD}" srcOrd="4" destOrd="0" presId="urn:microsoft.com/office/officeart/2018/2/layout/IconVerticalSolidList"/>
    <dgm:cxn modelId="{82FB21A1-BE20-4055-964C-B004813B90E4}" type="presParOf" srcId="{81F84C8C-CEE0-4905-A41F-C2917E5BE2DD}" destId="{5A97CB74-659E-4A35-B34D-ECB86BFC7E8C}" srcOrd="0" destOrd="0" presId="urn:microsoft.com/office/officeart/2018/2/layout/IconVerticalSolidList"/>
    <dgm:cxn modelId="{2ACCDD63-3631-414E-90A9-08D9F9C8C162}" type="presParOf" srcId="{81F84C8C-CEE0-4905-A41F-C2917E5BE2DD}" destId="{D9FDCFDB-3FBC-43AE-B236-70725C192F89}" srcOrd="1" destOrd="0" presId="urn:microsoft.com/office/officeart/2018/2/layout/IconVerticalSolidList"/>
    <dgm:cxn modelId="{17BBA127-C337-4ED0-9A63-2FE37F008ACA}" type="presParOf" srcId="{81F84C8C-CEE0-4905-A41F-C2917E5BE2DD}" destId="{21E8B934-1983-4960-B555-955273176012}" srcOrd="2" destOrd="0" presId="urn:microsoft.com/office/officeart/2018/2/layout/IconVerticalSolidList"/>
    <dgm:cxn modelId="{06A9DE7E-45A6-424D-86DC-108490517EC3}" type="presParOf" srcId="{81F84C8C-CEE0-4905-A41F-C2917E5BE2DD}" destId="{8BF29F48-85B0-4A7E-8F99-7F295AB85766}" srcOrd="3" destOrd="0" presId="urn:microsoft.com/office/officeart/2018/2/layout/IconVerticalSolidList"/>
    <dgm:cxn modelId="{60024E18-E17D-48B1-8D85-AD1D94B7A9AE}" type="presParOf" srcId="{D7148A88-6FE3-4600-8AA1-8656CB4123D9}" destId="{C65436F5-EF33-48AF-A67E-F91ED8A21C2E}" srcOrd="5" destOrd="0" presId="urn:microsoft.com/office/officeart/2018/2/layout/IconVerticalSolidList"/>
    <dgm:cxn modelId="{0FB50036-479E-4E35-9FAB-D1CD01E202CF}" type="presParOf" srcId="{D7148A88-6FE3-4600-8AA1-8656CB4123D9}" destId="{237607B1-1BAD-4472-BF90-87BCA0644B35}" srcOrd="6" destOrd="0" presId="urn:microsoft.com/office/officeart/2018/2/layout/IconVerticalSolidList"/>
    <dgm:cxn modelId="{FBED9942-3F6C-4DA3-9EC7-7130AEF95689}" type="presParOf" srcId="{237607B1-1BAD-4472-BF90-87BCA0644B35}" destId="{2E86427E-02AF-49A0-8DE1-D32EA0409129}" srcOrd="0" destOrd="0" presId="urn:microsoft.com/office/officeart/2018/2/layout/IconVerticalSolidList"/>
    <dgm:cxn modelId="{0E45B1AF-C96B-46FC-AF34-703B9A1AD9A5}" type="presParOf" srcId="{237607B1-1BAD-4472-BF90-87BCA0644B35}" destId="{CF4EB781-3CDB-46BA-814C-DA8A1ABF9DAC}" srcOrd="1" destOrd="0" presId="urn:microsoft.com/office/officeart/2018/2/layout/IconVerticalSolidList"/>
    <dgm:cxn modelId="{0B3AAF95-CEBC-46A3-807D-863516B7C1A5}" type="presParOf" srcId="{237607B1-1BAD-4472-BF90-87BCA0644B35}" destId="{47110ABA-5A65-48A8-92F4-829B87172D93}" srcOrd="2" destOrd="0" presId="urn:microsoft.com/office/officeart/2018/2/layout/IconVerticalSolidList"/>
    <dgm:cxn modelId="{9520500B-CD25-4DB7-A752-459200E049DF}" type="presParOf" srcId="{237607B1-1BAD-4472-BF90-87BCA0644B35}" destId="{BB7AB933-D2E2-4C46-8833-FB6990CA80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0CC007-445B-4621-AFB6-656B283596E2}" type="doc">
      <dgm:prSet loTypeId="urn:microsoft.com/office/officeart/2008/layout/LinedLis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25D932-142C-4DAF-B52D-807DD4B64747}">
      <dgm:prSet/>
      <dgm:spPr/>
      <dgm:t>
        <a:bodyPr/>
        <a:lstStyle/>
        <a:p>
          <a:r>
            <a:rPr lang="fr-FR" b="1" dirty="0"/>
            <a:t>Fiabilisation du Capital Donnée :</a:t>
          </a:r>
          <a:r>
            <a:rPr lang="fr-FR" dirty="0"/>
            <a:t> Ce projet a transformé un jeu de données brut et fragmenté en un actif stratégique exploitable par la direction.</a:t>
          </a:r>
          <a:endParaRPr lang="en-US" dirty="0"/>
        </a:p>
      </dgm:t>
    </dgm:pt>
    <dgm:pt modelId="{0113331D-CAC9-4A41-9AE0-E84C388D7B30}" type="parTrans" cxnId="{F2466D62-1633-4F9A-87B2-135886B23D90}">
      <dgm:prSet/>
      <dgm:spPr/>
      <dgm:t>
        <a:bodyPr/>
        <a:lstStyle/>
        <a:p>
          <a:endParaRPr lang="en-US"/>
        </a:p>
      </dgm:t>
    </dgm:pt>
    <dgm:pt modelId="{B29AAAD0-F9A6-4078-BD60-B2809FC8E635}" type="sibTrans" cxnId="{F2466D62-1633-4F9A-87B2-135886B23D90}">
      <dgm:prSet/>
      <dgm:spPr/>
      <dgm:t>
        <a:bodyPr/>
        <a:lstStyle/>
        <a:p>
          <a:endParaRPr lang="en-US"/>
        </a:p>
      </dgm:t>
    </dgm:pt>
    <dgm:pt modelId="{A5124FC0-D092-4CFC-848D-2839BD90BD33}">
      <dgm:prSet/>
      <dgm:spPr/>
      <dgm:t>
        <a:bodyPr/>
        <a:lstStyle/>
        <a:p>
          <a:pPr>
            <a:buNone/>
          </a:pPr>
          <a:r>
            <a:rPr lang="fr-FR" b="1" dirty="0"/>
            <a:t>Optimisation Opérationnelle :</a:t>
          </a:r>
          <a:r>
            <a:rPr lang="fr-FR" dirty="0"/>
            <a:t> L'identification des corrélations MRP/Ventes offre un levier immédiat pour augmenter la marge brute sans investissement supplémentaire.</a:t>
          </a:r>
        </a:p>
      </dgm:t>
    </dgm:pt>
    <dgm:pt modelId="{8B9131C2-AF0F-42F7-8120-ABB7808AA7F8}" type="parTrans" cxnId="{F121C752-0641-4661-904A-95D7A266E7BB}">
      <dgm:prSet/>
      <dgm:spPr/>
      <dgm:t>
        <a:bodyPr/>
        <a:lstStyle/>
        <a:p>
          <a:endParaRPr lang="fr-FR"/>
        </a:p>
      </dgm:t>
    </dgm:pt>
    <dgm:pt modelId="{AE63B37B-0973-41C5-9B01-4961305A32D2}" type="sibTrans" cxnId="{F121C752-0641-4661-904A-95D7A266E7BB}">
      <dgm:prSet/>
      <dgm:spPr/>
      <dgm:t>
        <a:bodyPr/>
        <a:lstStyle/>
        <a:p>
          <a:endParaRPr lang="fr-FR"/>
        </a:p>
      </dgm:t>
    </dgm:pt>
    <dgm:pt modelId="{D598B5FE-C788-4B7D-B4BE-113F5271E205}">
      <dgm:prSet/>
      <dgm:spPr/>
      <dgm:t>
        <a:bodyPr/>
        <a:lstStyle/>
        <a:p>
          <a:pPr>
            <a:buNone/>
          </a:pPr>
          <a:r>
            <a:rPr lang="fr-FR" b="1"/>
            <a:t>Aide à la Décision :</a:t>
          </a:r>
          <a:r>
            <a:rPr lang="fr-FR"/>
            <a:t> La mise en lumière de la sous-performance des "</a:t>
          </a:r>
          <a:r>
            <a:rPr lang="fr-FR" dirty="0" err="1"/>
            <a:t>Grocery</a:t>
          </a:r>
          <a:r>
            <a:rPr lang="fr-FR" dirty="0"/>
            <a:t> Stores" permet d'arbitrer les futurs investissements immobiliers et logistiques de </a:t>
          </a:r>
          <a:r>
            <a:rPr lang="fr-FR" dirty="0" err="1"/>
            <a:t>MarketCorp</a:t>
          </a:r>
          <a:r>
            <a:rPr lang="fr-FR" dirty="0"/>
            <a:t>.</a:t>
          </a:r>
        </a:p>
      </dgm:t>
    </dgm:pt>
    <dgm:pt modelId="{2F8CA4B1-A8B5-4FBD-BE79-A9D6C58ED460}" type="parTrans" cxnId="{34C09D10-E558-48D4-B42F-029B6BCE2C33}">
      <dgm:prSet/>
      <dgm:spPr/>
      <dgm:t>
        <a:bodyPr/>
        <a:lstStyle/>
        <a:p>
          <a:endParaRPr lang="fr-FR"/>
        </a:p>
      </dgm:t>
    </dgm:pt>
    <dgm:pt modelId="{7839254D-F3FA-44F4-9B95-4E5B326798F3}" type="sibTrans" cxnId="{34C09D10-E558-48D4-B42F-029B6BCE2C33}">
      <dgm:prSet/>
      <dgm:spPr/>
      <dgm:t>
        <a:bodyPr/>
        <a:lstStyle/>
        <a:p>
          <a:endParaRPr lang="fr-FR"/>
        </a:p>
      </dgm:t>
    </dgm:pt>
    <dgm:pt modelId="{2AB7FCB1-5CD5-4ECA-8C9B-E8E1A04D4141}" type="pres">
      <dgm:prSet presAssocID="{590CC007-445B-4621-AFB6-656B283596E2}" presName="vert0" presStyleCnt="0">
        <dgm:presLayoutVars>
          <dgm:dir/>
          <dgm:animOne val="branch"/>
          <dgm:animLvl val="lvl"/>
        </dgm:presLayoutVars>
      </dgm:prSet>
      <dgm:spPr/>
    </dgm:pt>
    <dgm:pt modelId="{2F28ADD1-63E1-4B88-B112-0E4996E4C2FC}" type="pres">
      <dgm:prSet presAssocID="{8D25D932-142C-4DAF-B52D-807DD4B64747}" presName="thickLine" presStyleLbl="alignNode1" presStyleIdx="0" presStyleCnt="3"/>
      <dgm:spPr/>
    </dgm:pt>
    <dgm:pt modelId="{9A3052C3-3662-48AE-BF88-637B653C1F29}" type="pres">
      <dgm:prSet presAssocID="{8D25D932-142C-4DAF-B52D-807DD4B64747}" presName="horz1" presStyleCnt="0"/>
      <dgm:spPr/>
    </dgm:pt>
    <dgm:pt modelId="{2B031F34-7523-4443-8EF0-D390EDCD3C81}" type="pres">
      <dgm:prSet presAssocID="{8D25D932-142C-4DAF-B52D-807DD4B64747}" presName="tx1" presStyleLbl="revTx" presStyleIdx="0" presStyleCnt="3"/>
      <dgm:spPr/>
    </dgm:pt>
    <dgm:pt modelId="{82E462E3-3394-4E8C-8A74-FFABB67A4430}" type="pres">
      <dgm:prSet presAssocID="{8D25D932-142C-4DAF-B52D-807DD4B64747}" presName="vert1" presStyleCnt="0"/>
      <dgm:spPr/>
    </dgm:pt>
    <dgm:pt modelId="{967508BC-C148-4D8E-B2F4-C794004AE72D}" type="pres">
      <dgm:prSet presAssocID="{A5124FC0-D092-4CFC-848D-2839BD90BD33}" presName="thickLine" presStyleLbl="alignNode1" presStyleIdx="1" presStyleCnt="3"/>
      <dgm:spPr/>
    </dgm:pt>
    <dgm:pt modelId="{8583AEE0-EAEB-4975-9A49-73041F940184}" type="pres">
      <dgm:prSet presAssocID="{A5124FC0-D092-4CFC-848D-2839BD90BD33}" presName="horz1" presStyleCnt="0"/>
      <dgm:spPr/>
    </dgm:pt>
    <dgm:pt modelId="{41622A73-3467-418B-A7FA-5B514F57F88C}" type="pres">
      <dgm:prSet presAssocID="{A5124FC0-D092-4CFC-848D-2839BD90BD33}" presName="tx1" presStyleLbl="revTx" presStyleIdx="1" presStyleCnt="3"/>
      <dgm:spPr/>
    </dgm:pt>
    <dgm:pt modelId="{F510F3BD-5012-4ECF-9395-D2AA777445BD}" type="pres">
      <dgm:prSet presAssocID="{A5124FC0-D092-4CFC-848D-2839BD90BD33}" presName="vert1" presStyleCnt="0"/>
      <dgm:spPr/>
    </dgm:pt>
    <dgm:pt modelId="{A6F335A4-447B-49F9-AFA6-89D05BDD9457}" type="pres">
      <dgm:prSet presAssocID="{D598B5FE-C788-4B7D-B4BE-113F5271E205}" presName="thickLine" presStyleLbl="alignNode1" presStyleIdx="2" presStyleCnt="3"/>
      <dgm:spPr/>
    </dgm:pt>
    <dgm:pt modelId="{D05D4F24-5DB0-470E-8270-1F5CD59A8A11}" type="pres">
      <dgm:prSet presAssocID="{D598B5FE-C788-4B7D-B4BE-113F5271E205}" presName="horz1" presStyleCnt="0"/>
      <dgm:spPr/>
    </dgm:pt>
    <dgm:pt modelId="{B9B5C06B-8BB5-4EE6-BDAE-3B892971D04E}" type="pres">
      <dgm:prSet presAssocID="{D598B5FE-C788-4B7D-B4BE-113F5271E205}" presName="tx1" presStyleLbl="revTx" presStyleIdx="2" presStyleCnt="3"/>
      <dgm:spPr/>
    </dgm:pt>
    <dgm:pt modelId="{BE327B5C-DC8E-4B89-A978-41850EFEC7CB}" type="pres">
      <dgm:prSet presAssocID="{D598B5FE-C788-4B7D-B4BE-113F5271E205}" presName="vert1" presStyleCnt="0"/>
      <dgm:spPr/>
    </dgm:pt>
  </dgm:ptLst>
  <dgm:cxnLst>
    <dgm:cxn modelId="{34C09D10-E558-48D4-B42F-029B6BCE2C33}" srcId="{590CC007-445B-4621-AFB6-656B283596E2}" destId="{D598B5FE-C788-4B7D-B4BE-113F5271E205}" srcOrd="2" destOrd="0" parTransId="{2F8CA4B1-A8B5-4FBD-BE79-A9D6C58ED460}" sibTransId="{7839254D-F3FA-44F4-9B95-4E5B326798F3}"/>
    <dgm:cxn modelId="{7A6E3D11-3E8E-4301-BB6E-C1879A36E59A}" type="presOf" srcId="{A5124FC0-D092-4CFC-848D-2839BD90BD33}" destId="{41622A73-3467-418B-A7FA-5B514F57F88C}" srcOrd="0" destOrd="0" presId="urn:microsoft.com/office/officeart/2008/layout/LinedList"/>
    <dgm:cxn modelId="{F2466D62-1633-4F9A-87B2-135886B23D90}" srcId="{590CC007-445B-4621-AFB6-656B283596E2}" destId="{8D25D932-142C-4DAF-B52D-807DD4B64747}" srcOrd="0" destOrd="0" parTransId="{0113331D-CAC9-4A41-9AE0-E84C388D7B30}" sibTransId="{B29AAAD0-F9A6-4078-BD60-B2809FC8E635}"/>
    <dgm:cxn modelId="{F121C752-0641-4661-904A-95D7A266E7BB}" srcId="{590CC007-445B-4621-AFB6-656B283596E2}" destId="{A5124FC0-D092-4CFC-848D-2839BD90BD33}" srcOrd="1" destOrd="0" parTransId="{8B9131C2-AF0F-42F7-8120-ABB7808AA7F8}" sibTransId="{AE63B37B-0973-41C5-9B01-4961305A32D2}"/>
    <dgm:cxn modelId="{7558D79E-FF85-4B1E-AB8C-924D569CC5BF}" type="presOf" srcId="{590CC007-445B-4621-AFB6-656B283596E2}" destId="{2AB7FCB1-5CD5-4ECA-8C9B-E8E1A04D4141}" srcOrd="0" destOrd="0" presId="urn:microsoft.com/office/officeart/2008/layout/LinedList"/>
    <dgm:cxn modelId="{CAC5A0CA-4768-4286-9625-199FA24AA26F}" type="presOf" srcId="{D598B5FE-C788-4B7D-B4BE-113F5271E205}" destId="{B9B5C06B-8BB5-4EE6-BDAE-3B892971D04E}" srcOrd="0" destOrd="0" presId="urn:microsoft.com/office/officeart/2008/layout/LinedList"/>
    <dgm:cxn modelId="{6A2C4BE7-F965-4938-8D73-982DD09E10F5}" type="presOf" srcId="{8D25D932-142C-4DAF-B52D-807DD4B64747}" destId="{2B031F34-7523-4443-8EF0-D390EDCD3C81}" srcOrd="0" destOrd="0" presId="urn:microsoft.com/office/officeart/2008/layout/LinedList"/>
    <dgm:cxn modelId="{383C34A9-A908-460A-97C9-01488F3FA521}" type="presParOf" srcId="{2AB7FCB1-5CD5-4ECA-8C9B-E8E1A04D4141}" destId="{2F28ADD1-63E1-4B88-B112-0E4996E4C2FC}" srcOrd="0" destOrd="0" presId="urn:microsoft.com/office/officeart/2008/layout/LinedList"/>
    <dgm:cxn modelId="{26BEBD4C-EF67-460A-A977-DD1205E888ED}" type="presParOf" srcId="{2AB7FCB1-5CD5-4ECA-8C9B-E8E1A04D4141}" destId="{9A3052C3-3662-48AE-BF88-637B653C1F29}" srcOrd="1" destOrd="0" presId="urn:microsoft.com/office/officeart/2008/layout/LinedList"/>
    <dgm:cxn modelId="{0C55F912-8AE2-45D1-9B7F-E31451033B3A}" type="presParOf" srcId="{9A3052C3-3662-48AE-BF88-637B653C1F29}" destId="{2B031F34-7523-4443-8EF0-D390EDCD3C81}" srcOrd="0" destOrd="0" presId="urn:microsoft.com/office/officeart/2008/layout/LinedList"/>
    <dgm:cxn modelId="{45C8B934-936E-4F02-B128-568B2A376E26}" type="presParOf" srcId="{9A3052C3-3662-48AE-BF88-637B653C1F29}" destId="{82E462E3-3394-4E8C-8A74-FFABB67A4430}" srcOrd="1" destOrd="0" presId="urn:microsoft.com/office/officeart/2008/layout/LinedList"/>
    <dgm:cxn modelId="{2246211A-5BCC-44A2-98E3-AE37864E9657}" type="presParOf" srcId="{2AB7FCB1-5CD5-4ECA-8C9B-E8E1A04D4141}" destId="{967508BC-C148-4D8E-B2F4-C794004AE72D}" srcOrd="2" destOrd="0" presId="urn:microsoft.com/office/officeart/2008/layout/LinedList"/>
    <dgm:cxn modelId="{31A20A1E-E90D-4C79-84AC-A6670C1BB364}" type="presParOf" srcId="{2AB7FCB1-5CD5-4ECA-8C9B-E8E1A04D4141}" destId="{8583AEE0-EAEB-4975-9A49-73041F940184}" srcOrd="3" destOrd="0" presId="urn:microsoft.com/office/officeart/2008/layout/LinedList"/>
    <dgm:cxn modelId="{81B3EECB-805B-428D-90E6-0447A8DCC418}" type="presParOf" srcId="{8583AEE0-EAEB-4975-9A49-73041F940184}" destId="{41622A73-3467-418B-A7FA-5B514F57F88C}" srcOrd="0" destOrd="0" presId="urn:microsoft.com/office/officeart/2008/layout/LinedList"/>
    <dgm:cxn modelId="{9D21856B-2075-4F7D-AFCD-E0E5B325B2EA}" type="presParOf" srcId="{8583AEE0-EAEB-4975-9A49-73041F940184}" destId="{F510F3BD-5012-4ECF-9395-D2AA777445BD}" srcOrd="1" destOrd="0" presId="urn:microsoft.com/office/officeart/2008/layout/LinedList"/>
    <dgm:cxn modelId="{62509A00-5E14-4D74-AD14-F12BA11EAA6D}" type="presParOf" srcId="{2AB7FCB1-5CD5-4ECA-8C9B-E8E1A04D4141}" destId="{A6F335A4-447B-49F9-AFA6-89D05BDD9457}" srcOrd="4" destOrd="0" presId="urn:microsoft.com/office/officeart/2008/layout/LinedList"/>
    <dgm:cxn modelId="{D86452C3-9ECF-49FE-ADA4-ED1531A926CA}" type="presParOf" srcId="{2AB7FCB1-5CD5-4ECA-8C9B-E8E1A04D4141}" destId="{D05D4F24-5DB0-470E-8270-1F5CD59A8A11}" srcOrd="5" destOrd="0" presId="urn:microsoft.com/office/officeart/2008/layout/LinedList"/>
    <dgm:cxn modelId="{26715AF6-5C13-40F6-86A6-DEBB9C051371}" type="presParOf" srcId="{D05D4F24-5DB0-470E-8270-1F5CD59A8A11}" destId="{B9B5C06B-8BB5-4EE6-BDAE-3B892971D04E}" srcOrd="0" destOrd="0" presId="urn:microsoft.com/office/officeart/2008/layout/LinedList"/>
    <dgm:cxn modelId="{E681C015-3EF3-4B54-811D-6A74D4348072}" type="presParOf" srcId="{D05D4F24-5DB0-470E-8270-1F5CD59A8A11}" destId="{BE327B5C-DC8E-4B89-A978-41850EFEC7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F3CA7-4BE5-4A90-A044-787EF44AC12B}">
      <dsp:nvSpPr>
        <dsp:cNvPr id="0" name=""/>
        <dsp:cNvSpPr/>
      </dsp:nvSpPr>
      <dsp:spPr>
        <a:xfrm>
          <a:off x="0" y="349677"/>
          <a:ext cx="11159018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1906C3-5B79-456B-854C-56A65BE6EA48}">
      <dsp:nvSpPr>
        <dsp:cNvPr id="0" name=""/>
        <dsp:cNvSpPr/>
      </dsp:nvSpPr>
      <dsp:spPr>
        <a:xfrm>
          <a:off x="557950" y="83997"/>
          <a:ext cx="7811312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5249" tIns="0" rIns="2952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Introduction et Contexte du Projet</a:t>
          </a:r>
          <a:endParaRPr lang="en-US" sz="1800" kern="1200"/>
        </a:p>
      </dsp:txBody>
      <dsp:txXfrm>
        <a:off x="583889" y="109936"/>
        <a:ext cx="7759434" cy="479482"/>
      </dsp:txXfrm>
    </dsp:sp>
    <dsp:sp modelId="{B7EACD5D-F2B7-48C8-BDA0-5EF3F996FDE9}">
      <dsp:nvSpPr>
        <dsp:cNvPr id="0" name=""/>
        <dsp:cNvSpPr/>
      </dsp:nvSpPr>
      <dsp:spPr>
        <a:xfrm>
          <a:off x="0" y="1166157"/>
          <a:ext cx="11159018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CF7253-5A07-4CCB-A1A2-7987556653FD}">
      <dsp:nvSpPr>
        <dsp:cNvPr id="0" name=""/>
        <dsp:cNvSpPr/>
      </dsp:nvSpPr>
      <dsp:spPr>
        <a:xfrm>
          <a:off x="557950" y="900477"/>
          <a:ext cx="7811312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5249" tIns="0" rIns="2952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Audit et Nettoyage des Données</a:t>
          </a:r>
          <a:endParaRPr lang="en-US" sz="1800" kern="1200" dirty="0"/>
        </a:p>
      </dsp:txBody>
      <dsp:txXfrm>
        <a:off x="583889" y="926416"/>
        <a:ext cx="7759434" cy="479482"/>
      </dsp:txXfrm>
    </dsp:sp>
    <dsp:sp modelId="{BD1D72F8-FAD4-4486-BF52-45CEAE0C11E0}">
      <dsp:nvSpPr>
        <dsp:cNvPr id="0" name=""/>
        <dsp:cNvSpPr/>
      </dsp:nvSpPr>
      <dsp:spPr>
        <a:xfrm>
          <a:off x="0" y="1982637"/>
          <a:ext cx="11159018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167A84-4767-4620-9C12-058EAFA008D6}">
      <dsp:nvSpPr>
        <dsp:cNvPr id="0" name=""/>
        <dsp:cNvSpPr/>
      </dsp:nvSpPr>
      <dsp:spPr>
        <a:xfrm>
          <a:off x="557950" y="1716957"/>
          <a:ext cx="7811312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5249" tIns="0" rIns="2952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Exploration et Visualisation</a:t>
          </a:r>
          <a:endParaRPr lang="en-US" sz="1800" kern="1200"/>
        </a:p>
      </dsp:txBody>
      <dsp:txXfrm>
        <a:off x="583889" y="1742896"/>
        <a:ext cx="7759434" cy="479482"/>
      </dsp:txXfrm>
    </dsp:sp>
    <dsp:sp modelId="{907C39AC-57A4-4FCC-A8E4-2C884DB61618}">
      <dsp:nvSpPr>
        <dsp:cNvPr id="0" name=""/>
        <dsp:cNvSpPr/>
      </dsp:nvSpPr>
      <dsp:spPr>
        <a:xfrm>
          <a:off x="0" y="2799117"/>
          <a:ext cx="11159018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E0E87E-946E-4408-9807-CA0795280AF6}">
      <dsp:nvSpPr>
        <dsp:cNvPr id="0" name=""/>
        <dsp:cNvSpPr/>
      </dsp:nvSpPr>
      <dsp:spPr>
        <a:xfrm>
          <a:off x="557950" y="2533437"/>
          <a:ext cx="7811312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5249" tIns="0" rIns="2952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Bilan Technique : Ce que j'ai appris</a:t>
          </a:r>
          <a:endParaRPr lang="en-US" sz="1800" kern="1200" dirty="0"/>
        </a:p>
      </dsp:txBody>
      <dsp:txXfrm>
        <a:off x="583889" y="2559376"/>
        <a:ext cx="7759434" cy="479482"/>
      </dsp:txXfrm>
    </dsp:sp>
    <dsp:sp modelId="{3CBA16D6-339F-4BE8-AB65-C20A57EC26B6}">
      <dsp:nvSpPr>
        <dsp:cNvPr id="0" name=""/>
        <dsp:cNvSpPr/>
      </dsp:nvSpPr>
      <dsp:spPr>
        <a:xfrm>
          <a:off x="0" y="3615597"/>
          <a:ext cx="11159018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6FF99-A79B-47B3-8800-A47199ED8A08}">
      <dsp:nvSpPr>
        <dsp:cNvPr id="0" name=""/>
        <dsp:cNvSpPr/>
      </dsp:nvSpPr>
      <dsp:spPr>
        <a:xfrm>
          <a:off x="557950" y="3349917"/>
          <a:ext cx="7811312" cy="5313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5249" tIns="0" rIns="2952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Conclusion</a:t>
          </a:r>
          <a:endParaRPr lang="en-US" sz="1800" kern="1200"/>
        </a:p>
      </dsp:txBody>
      <dsp:txXfrm>
        <a:off x="583889" y="3375856"/>
        <a:ext cx="7759434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A334F-8F30-4F41-B9B9-CA8CE9CB4CF2}">
      <dsp:nvSpPr>
        <dsp:cNvPr id="0" name=""/>
        <dsp:cNvSpPr/>
      </dsp:nvSpPr>
      <dsp:spPr>
        <a:xfrm>
          <a:off x="0" y="413024"/>
          <a:ext cx="11152922" cy="762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58A63-B82B-4369-816F-34B1F94496B9}">
      <dsp:nvSpPr>
        <dsp:cNvPr id="0" name=""/>
        <dsp:cNvSpPr/>
      </dsp:nvSpPr>
      <dsp:spPr>
        <a:xfrm>
          <a:off x="230658" y="584588"/>
          <a:ext cx="419378" cy="4193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42978D-2F31-451F-8425-731E548E3DCA}">
      <dsp:nvSpPr>
        <dsp:cNvPr id="0" name=""/>
        <dsp:cNvSpPr/>
      </dsp:nvSpPr>
      <dsp:spPr>
        <a:xfrm>
          <a:off x="880694" y="413024"/>
          <a:ext cx="10272227" cy="762506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99" tIns="80699" rIns="80699" bIns="80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/>
            <a:t>Objectif du projet :</a:t>
          </a:r>
          <a:r>
            <a:rPr lang="fr-FR" sz="1900" kern="1200" dirty="0"/>
            <a:t> Analyser un jeu de données de ventes hétérogènes pour identifier les véritables leviers de chiffre d'affaires d'un réseau de distribution.</a:t>
          </a:r>
          <a:endParaRPr lang="en-US" sz="1900" kern="1200" dirty="0"/>
        </a:p>
      </dsp:txBody>
      <dsp:txXfrm>
        <a:off x="880694" y="413024"/>
        <a:ext cx="10272227" cy="762506"/>
      </dsp:txXfrm>
    </dsp:sp>
    <dsp:sp modelId="{3AD4B174-DD70-4A85-A577-A5B6FFB89E4B}">
      <dsp:nvSpPr>
        <dsp:cNvPr id="0" name=""/>
        <dsp:cNvSpPr/>
      </dsp:nvSpPr>
      <dsp:spPr>
        <a:xfrm>
          <a:off x="0" y="1366157"/>
          <a:ext cx="11152922" cy="762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CCEE3-FD3B-414F-BB20-2D6AA52B22BB}">
      <dsp:nvSpPr>
        <dsp:cNvPr id="0" name=""/>
        <dsp:cNvSpPr/>
      </dsp:nvSpPr>
      <dsp:spPr>
        <a:xfrm>
          <a:off x="230658" y="1537721"/>
          <a:ext cx="419378" cy="4193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A0E7FD-8D21-4FCC-808E-449C15C2F8C8}">
      <dsp:nvSpPr>
        <dsp:cNvPr id="0" name=""/>
        <dsp:cNvSpPr/>
      </dsp:nvSpPr>
      <dsp:spPr>
        <a:xfrm>
          <a:off x="880694" y="1366157"/>
          <a:ext cx="10272227" cy="762506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99" tIns="80699" rIns="80699" bIns="80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/>
            <a:t>La problématique :</a:t>
          </a:r>
          <a:r>
            <a:rPr lang="fr-FR" sz="1900" kern="1200" dirty="0"/>
            <a:t> Pourquoi certains magasins performent-ils mieux que d'autres, et comment optimiser l'offre en rayon ?</a:t>
          </a:r>
          <a:endParaRPr lang="en-US" sz="1900" kern="1200" dirty="0"/>
        </a:p>
      </dsp:txBody>
      <dsp:txXfrm>
        <a:off x="880694" y="1366157"/>
        <a:ext cx="10272227" cy="7625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CE07D7-F9F5-45BB-99B3-FBADB3545D74}">
      <dsp:nvSpPr>
        <dsp:cNvPr id="0" name=""/>
        <dsp:cNvSpPr/>
      </dsp:nvSpPr>
      <dsp:spPr>
        <a:xfrm>
          <a:off x="0" y="965544"/>
          <a:ext cx="11156950" cy="8276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5FCA7-78A6-4992-A742-C23DF24B29D3}">
      <dsp:nvSpPr>
        <dsp:cNvPr id="0" name=""/>
        <dsp:cNvSpPr/>
      </dsp:nvSpPr>
      <dsp:spPr>
        <a:xfrm>
          <a:off x="250351" y="1151756"/>
          <a:ext cx="455185" cy="4551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F7EE20-F581-4822-BDBD-D4EA26AEEEDB}">
      <dsp:nvSpPr>
        <dsp:cNvPr id="0" name=""/>
        <dsp:cNvSpPr/>
      </dsp:nvSpPr>
      <dsp:spPr>
        <a:xfrm>
          <a:off x="955889" y="965544"/>
          <a:ext cx="10201060" cy="82760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89" tIns="87589" rIns="87589" bIns="8758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Le défi :</a:t>
          </a:r>
          <a:r>
            <a:rPr lang="fr-FR" sz="2100" kern="1200" dirty="0"/>
            <a:t> Des données brutes imparfaites (17% de valeurs manquantes sur les poids, catégories mal renseignées).</a:t>
          </a:r>
          <a:endParaRPr lang="en-US" sz="2100" kern="1200" dirty="0"/>
        </a:p>
      </dsp:txBody>
      <dsp:txXfrm>
        <a:off x="955889" y="965544"/>
        <a:ext cx="10201060" cy="8276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A334F-8F30-4F41-B9B9-CA8CE9CB4CF2}">
      <dsp:nvSpPr>
        <dsp:cNvPr id="0" name=""/>
        <dsp:cNvSpPr/>
      </dsp:nvSpPr>
      <dsp:spPr>
        <a:xfrm>
          <a:off x="0" y="1803"/>
          <a:ext cx="11152922" cy="9139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58A63-B82B-4369-816F-34B1F94496B9}">
      <dsp:nvSpPr>
        <dsp:cNvPr id="0" name=""/>
        <dsp:cNvSpPr/>
      </dsp:nvSpPr>
      <dsp:spPr>
        <a:xfrm>
          <a:off x="276484" y="207452"/>
          <a:ext cx="502698" cy="5026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42978D-2F31-451F-8425-731E548E3DCA}">
      <dsp:nvSpPr>
        <dsp:cNvPr id="0" name=""/>
        <dsp:cNvSpPr/>
      </dsp:nvSpPr>
      <dsp:spPr>
        <a:xfrm>
          <a:off x="1055666" y="1803"/>
          <a:ext cx="10097255" cy="913996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1" tIns="96731" rIns="96731" bIns="967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/>
            <a:t>Contenu :</a:t>
          </a:r>
          <a:r>
            <a:rPr lang="fr-FR" sz="1700" kern="1200" dirty="0"/>
            <a:t> Ce projet d'analyse, au cœur de mon parcours de Bachelor 2 en informatique, a marqué un véritable pont entre la programmation logicielle et la Data Science :</a:t>
          </a:r>
          <a:endParaRPr lang="en-US" sz="1700" kern="1200" dirty="0"/>
        </a:p>
      </dsp:txBody>
      <dsp:txXfrm>
        <a:off x="1055666" y="1803"/>
        <a:ext cx="10097255" cy="913996"/>
      </dsp:txXfrm>
    </dsp:sp>
    <dsp:sp modelId="{03C8DB35-720E-43A7-988A-106EE23839A3}">
      <dsp:nvSpPr>
        <dsp:cNvPr id="0" name=""/>
        <dsp:cNvSpPr/>
      </dsp:nvSpPr>
      <dsp:spPr>
        <a:xfrm>
          <a:off x="0" y="1144299"/>
          <a:ext cx="11152922" cy="9139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1BD4B-3B15-485A-A7FA-F1F3DAFF015E}">
      <dsp:nvSpPr>
        <dsp:cNvPr id="0" name=""/>
        <dsp:cNvSpPr/>
      </dsp:nvSpPr>
      <dsp:spPr>
        <a:xfrm>
          <a:off x="276484" y="1349948"/>
          <a:ext cx="502698" cy="50269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775F50-465D-4A93-9AF2-14CA82B29AE4}">
      <dsp:nvSpPr>
        <dsp:cNvPr id="0" name=""/>
        <dsp:cNvSpPr/>
      </dsp:nvSpPr>
      <dsp:spPr>
        <a:xfrm>
          <a:off x="1055666" y="1144299"/>
          <a:ext cx="10097255" cy="913996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1" tIns="96731" rIns="96731" bIns="967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/>
            <a:t>Changement de paradigme :</a:t>
          </a:r>
          <a:r>
            <a:rPr lang="fr-FR" sz="1700" kern="1200" dirty="0"/>
            <a:t> Le passage d'une logique algorithmique classique (comme l'optimisation minutieuse des boucles et des tableaux en C#) à la puissance de la vectorisation sous </a:t>
          </a:r>
          <a:r>
            <a:rPr lang="fr-FR" sz="1700" kern="1200" dirty="0" err="1"/>
            <a:t>NumPy</a:t>
          </a:r>
          <a:r>
            <a:rPr lang="fr-FR" sz="1700" kern="1200" dirty="0"/>
            <a:t> et Pandas.</a:t>
          </a:r>
        </a:p>
      </dsp:txBody>
      <dsp:txXfrm>
        <a:off x="1055666" y="1144299"/>
        <a:ext cx="10097255" cy="913996"/>
      </dsp:txXfrm>
    </dsp:sp>
    <dsp:sp modelId="{5A97CB74-659E-4A35-B34D-ECB86BFC7E8C}">
      <dsp:nvSpPr>
        <dsp:cNvPr id="0" name=""/>
        <dsp:cNvSpPr/>
      </dsp:nvSpPr>
      <dsp:spPr>
        <a:xfrm>
          <a:off x="0" y="2286795"/>
          <a:ext cx="11152922" cy="9139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DCFDB-3FBC-43AE-B236-70725C192F89}">
      <dsp:nvSpPr>
        <dsp:cNvPr id="0" name=""/>
        <dsp:cNvSpPr/>
      </dsp:nvSpPr>
      <dsp:spPr>
        <a:xfrm>
          <a:off x="276484" y="2492444"/>
          <a:ext cx="502698" cy="50269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F29F48-85B0-4A7E-8F99-7F295AB85766}">
      <dsp:nvSpPr>
        <dsp:cNvPr id="0" name=""/>
        <dsp:cNvSpPr/>
      </dsp:nvSpPr>
      <dsp:spPr>
        <a:xfrm>
          <a:off x="1055666" y="2286795"/>
          <a:ext cx="10097255" cy="913996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1" tIns="96731" rIns="96731" bIns="967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/>
            <a:t>Rigueur analytique :</a:t>
          </a:r>
          <a:r>
            <a:rPr lang="fr-FR" sz="1700" kern="1200"/>
            <a:t> Comprendre qu'un résultat n'est valable que si la donnée source est correctement traitée en amont (l'importance de l'audit et du nettoyage sans dénaturer le dataset).</a:t>
          </a:r>
          <a:endParaRPr lang="fr-FR" sz="1700" kern="1200" dirty="0"/>
        </a:p>
      </dsp:txBody>
      <dsp:txXfrm>
        <a:off x="1055666" y="2286795"/>
        <a:ext cx="10097255" cy="913996"/>
      </dsp:txXfrm>
    </dsp:sp>
    <dsp:sp modelId="{2E86427E-02AF-49A0-8DE1-D32EA0409129}">
      <dsp:nvSpPr>
        <dsp:cNvPr id="0" name=""/>
        <dsp:cNvSpPr/>
      </dsp:nvSpPr>
      <dsp:spPr>
        <a:xfrm>
          <a:off x="0" y="3429291"/>
          <a:ext cx="11152922" cy="9139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EB781-3CDB-46BA-814C-DA8A1ABF9DAC}">
      <dsp:nvSpPr>
        <dsp:cNvPr id="0" name=""/>
        <dsp:cNvSpPr/>
      </dsp:nvSpPr>
      <dsp:spPr>
        <a:xfrm>
          <a:off x="276484" y="3634941"/>
          <a:ext cx="502698" cy="50269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7AB933-D2E2-4C46-8833-FB6990CA8079}">
      <dsp:nvSpPr>
        <dsp:cNvPr id="0" name=""/>
        <dsp:cNvSpPr/>
      </dsp:nvSpPr>
      <dsp:spPr>
        <a:xfrm>
          <a:off x="1055666" y="3429291"/>
          <a:ext cx="10097255" cy="913996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1" tIns="96731" rIns="96731" bIns="967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/>
            <a:t>Communication :</a:t>
          </a:r>
          <a:r>
            <a:rPr lang="fr-FR" sz="1700" kern="1200" dirty="0"/>
            <a:t> Apprendre à traduire un code complexe en recommandations lisibles pour une direction régionale (Storytelling visuel avec </a:t>
          </a:r>
          <a:r>
            <a:rPr lang="fr-FR" sz="1700" kern="1200" dirty="0" err="1"/>
            <a:t>Matplotlib</a:t>
          </a:r>
          <a:r>
            <a:rPr lang="fr-FR" sz="1700" kern="1200" dirty="0"/>
            <a:t>).</a:t>
          </a:r>
        </a:p>
      </dsp:txBody>
      <dsp:txXfrm>
        <a:off x="1055666" y="3429291"/>
        <a:ext cx="10097255" cy="9139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8ADD1-63E1-4B88-B112-0E4996E4C2FC}">
      <dsp:nvSpPr>
        <dsp:cNvPr id="0" name=""/>
        <dsp:cNvSpPr/>
      </dsp:nvSpPr>
      <dsp:spPr>
        <a:xfrm>
          <a:off x="0" y="2098"/>
          <a:ext cx="111569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B031F34-7523-4443-8EF0-D390EDCD3C81}">
      <dsp:nvSpPr>
        <dsp:cNvPr id="0" name=""/>
        <dsp:cNvSpPr/>
      </dsp:nvSpPr>
      <dsp:spPr>
        <a:xfrm>
          <a:off x="0" y="2098"/>
          <a:ext cx="11156950" cy="1431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b="1" kern="1200" dirty="0"/>
            <a:t>Fiabilisation du Capital Donnée :</a:t>
          </a:r>
          <a:r>
            <a:rPr lang="fr-FR" sz="2900" kern="1200" dirty="0"/>
            <a:t> Ce projet a transformé un jeu de données brut et fragmenté en un actif stratégique exploitable par la direction.</a:t>
          </a:r>
          <a:endParaRPr lang="en-US" sz="2900" kern="1200" dirty="0"/>
        </a:p>
      </dsp:txBody>
      <dsp:txXfrm>
        <a:off x="0" y="2098"/>
        <a:ext cx="11156950" cy="1431343"/>
      </dsp:txXfrm>
    </dsp:sp>
    <dsp:sp modelId="{967508BC-C148-4D8E-B2F4-C794004AE72D}">
      <dsp:nvSpPr>
        <dsp:cNvPr id="0" name=""/>
        <dsp:cNvSpPr/>
      </dsp:nvSpPr>
      <dsp:spPr>
        <a:xfrm>
          <a:off x="0" y="1433442"/>
          <a:ext cx="11156950" cy="0"/>
        </a:xfrm>
        <a:prstGeom prst="line">
          <a:avLst/>
        </a:prstGeom>
        <a:gradFill rotWithShape="0">
          <a:gsLst>
            <a:gs pos="0">
              <a:schemeClr val="accent2">
                <a:hueOff val="-5184504"/>
                <a:satOff val="-10204"/>
                <a:lumOff val="63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184504"/>
                <a:satOff val="-10204"/>
                <a:lumOff val="63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184504"/>
                <a:satOff val="-10204"/>
                <a:lumOff val="63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1622A73-3467-418B-A7FA-5B514F57F88C}">
      <dsp:nvSpPr>
        <dsp:cNvPr id="0" name=""/>
        <dsp:cNvSpPr/>
      </dsp:nvSpPr>
      <dsp:spPr>
        <a:xfrm>
          <a:off x="0" y="1433442"/>
          <a:ext cx="11156950" cy="1431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b="1" kern="1200" dirty="0"/>
            <a:t>Optimisation Opérationnelle :</a:t>
          </a:r>
          <a:r>
            <a:rPr lang="fr-FR" sz="2900" kern="1200" dirty="0"/>
            <a:t> L'identification des corrélations MRP/Ventes offre un levier immédiat pour augmenter la marge brute sans investissement supplémentaire.</a:t>
          </a:r>
        </a:p>
      </dsp:txBody>
      <dsp:txXfrm>
        <a:off x="0" y="1433442"/>
        <a:ext cx="11156950" cy="1431343"/>
      </dsp:txXfrm>
    </dsp:sp>
    <dsp:sp modelId="{A6F335A4-447B-49F9-AFA6-89D05BDD9457}">
      <dsp:nvSpPr>
        <dsp:cNvPr id="0" name=""/>
        <dsp:cNvSpPr/>
      </dsp:nvSpPr>
      <dsp:spPr>
        <a:xfrm>
          <a:off x="0" y="2864786"/>
          <a:ext cx="11156950" cy="0"/>
        </a:xfrm>
        <a:prstGeom prst="line">
          <a:avLst/>
        </a:prstGeom>
        <a:gradFill rotWithShape="0">
          <a:gsLst>
            <a:gs pos="0">
              <a:schemeClr val="accent2">
                <a:hueOff val="-10369007"/>
                <a:satOff val="-20408"/>
                <a:lumOff val="1274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369007"/>
                <a:satOff val="-20408"/>
                <a:lumOff val="1274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369007"/>
                <a:satOff val="-20408"/>
                <a:lumOff val="1274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9B5C06B-8BB5-4EE6-BDAE-3B892971D04E}">
      <dsp:nvSpPr>
        <dsp:cNvPr id="0" name=""/>
        <dsp:cNvSpPr/>
      </dsp:nvSpPr>
      <dsp:spPr>
        <a:xfrm>
          <a:off x="0" y="2864786"/>
          <a:ext cx="11156950" cy="1431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b="1" kern="1200"/>
            <a:t>Aide à la Décision :</a:t>
          </a:r>
          <a:r>
            <a:rPr lang="fr-FR" sz="2900" kern="1200"/>
            <a:t> La mise en lumière de la sous-performance des "</a:t>
          </a:r>
          <a:r>
            <a:rPr lang="fr-FR" sz="2900" kern="1200" dirty="0" err="1"/>
            <a:t>Grocery</a:t>
          </a:r>
          <a:r>
            <a:rPr lang="fr-FR" sz="2900" kern="1200" dirty="0"/>
            <a:t> Stores" permet d'arbitrer les futurs investissements immobiliers et logistiques de </a:t>
          </a:r>
          <a:r>
            <a:rPr lang="fr-FR" sz="2900" kern="1200" dirty="0" err="1"/>
            <a:t>MarketCorp</a:t>
          </a:r>
          <a:r>
            <a:rPr lang="fr-FR" sz="2900" kern="1200" dirty="0"/>
            <a:t>.</a:t>
          </a:r>
        </a:p>
      </dsp:txBody>
      <dsp:txXfrm>
        <a:off x="0" y="2864786"/>
        <a:ext cx="11156950" cy="1431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0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0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8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63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2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61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8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3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8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01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8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1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DCC2AA-124C-4EB5-9E87-CADA076B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78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0B1542-AEA9-B696-CEAC-B675448CB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fr-FR" sz="4400"/>
              <a:t>Projet Data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011CAA-086F-6753-D417-862DE361C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8583" y="5739969"/>
            <a:ext cx="6718702" cy="960120"/>
          </a:xfrm>
        </p:spPr>
        <p:txBody>
          <a:bodyPr anchor="ctr">
            <a:normAutofit/>
          </a:bodyPr>
          <a:lstStyle/>
          <a:p>
            <a:pPr algn="r"/>
            <a:r>
              <a:rPr lang="fr-FR" sz="1900" dirty="0"/>
              <a:t>Manel OUTALEB </a:t>
            </a:r>
          </a:p>
          <a:p>
            <a:pPr algn="r"/>
            <a:r>
              <a:rPr lang="fr-FR" sz="1900" dirty="0"/>
              <a:t>Elève B2 – Ynov Campus Casablanca</a:t>
            </a:r>
          </a:p>
        </p:txBody>
      </p:sp>
    </p:spTree>
    <p:extLst>
      <p:ext uri="{BB962C8B-B14F-4D97-AF65-F5344CB8AC3E}">
        <p14:creationId xmlns:p14="http://schemas.microsoft.com/office/powerpoint/2010/main" val="201208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5B6813-179C-54A9-C033-EC0AD3B3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fr-FR" dirty="0"/>
              <a:t>Sommaire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01A39A9-8476-606D-4C71-C80A3F6C4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883455"/>
              </p:ext>
            </p:extLst>
          </p:nvPr>
        </p:nvGraphicFramePr>
        <p:xfrm>
          <a:off x="517870" y="1854412"/>
          <a:ext cx="11159018" cy="4153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343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8F8FA5-25E7-4A49-4451-B62FC0B9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9506712" cy="834403"/>
          </a:xfrm>
        </p:spPr>
        <p:txBody>
          <a:bodyPr>
            <a:normAutofit/>
          </a:bodyPr>
          <a:lstStyle/>
          <a:p>
            <a:r>
              <a:rPr lang="fr-FR" sz="4000" dirty="0"/>
              <a:t>Introduction &amp; Contexte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F44D96F-7DE6-ADE1-B5B0-8D8F748DB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694950"/>
              </p:ext>
            </p:extLst>
          </p:nvPr>
        </p:nvGraphicFramePr>
        <p:xfrm>
          <a:off x="517870" y="1534500"/>
          <a:ext cx="11152922" cy="2541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5" name="Groupe 44">
            <a:extLst>
              <a:ext uri="{FF2B5EF4-FFF2-40B4-BE49-F238E27FC236}">
                <a16:creationId xmlns:a16="http://schemas.microsoft.com/office/drawing/2014/main" id="{B4205550-3813-4132-4A56-E457C4DC682F}"/>
              </a:ext>
            </a:extLst>
          </p:cNvPr>
          <p:cNvGrpSpPr/>
          <p:nvPr/>
        </p:nvGrpSpPr>
        <p:grpSpPr>
          <a:xfrm>
            <a:off x="515112" y="3957568"/>
            <a:ext cx="6508282" cy="110366"/>
            <a:chOff x="797773" y="1728403"/>
            <a:chExt cx="6508282" cy="690713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27514A0-A1FC-72AF-E144-8CD9122809C8}"/>
                </a:ext>
              </a:extLst>
            </p:cNvPr>
            <p:cNvSpPr/>
            <p:nvPr/>
          </p:nvSpPr>
          <p:spPr>
            <a:xfrm>
              <a:off x="797773" y="1728403"/>
              <a:ext cx="6508282" cy="69071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C2033BDD-96CD-78CC-260D-A40899F80E1B}"/>
                </a:ext>
              </a:extLst>
            </p:cNvPr>
            <p:cNvSpPr txBox="1"/>
            <p:nvPr/>
          </p:nvSpPr>
          <p:spPr>
            <a:xfrm>
              <a:off x="797773" y="1728403"/>
              <a:ext cx="6508282" cy="6907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500" b="1" kern="1200" dirty="0"/>
                <a:t>L'environnement technique :</a:t>
              </a:r>
              <a:endParaRPr lang="en-US" sz="1500" kern="1200" dirty="0"/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02649241-26B2-E987-847B-7D61720D083D}"/>
              </a:ext>
            </a:extLst>
          </p:cNvPr>
          <p:cNvGrpSpPr/>
          <p:nvPr/>
        </p:nvGrpSpPr>
        <p:grpSpPr>
          <a:xfrm>
            <a:off x="515112" y="4513660"/>
            <a:ext cx="6508282" cy="110366"/>
            <a:chOff x="797773" y="2591795"/>
            <a:chExt cx="6508282" cy="690713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692FA37-EB6C-37A9-DFE2-5F5621D41211}"/>
                </a:ext>
              </a:extLst>
            </p:cNvPr>
            <p:cNvSpPr/>
            <p:nvPr/>
          </p:nvSpPr>
          <p:spPr>
            <a:xfrm>
              <a:off x="797773" y="2591795"/>
              <a:ext cx="6508282" cy="69071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/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5357440D-16D4-0546-C22B-57AD702716E9}"/>
                </a:ext>
              </a:extLst>
            </p:cNvPr>
            <p:cNvSpPr txBox="1"/>
            <p:nvPr/>
          </p:nvSpPr>
          <p:spPr>
            <a:xfrm>
              <a:off x="797773" y="2591795"/>
              <a:ext cx="6508282" cy="6907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285750" lvl="0" indent="-28575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fr-FR" sz="1500" kern="1200" dirty="0"/>
                <a:t>Outil : Google </a:t>
              </a:r>
              <a:r>
                <a:rPr lang="fr-FR" sz="1500" kern="1200" dirty="0" err="1"/>
                <a:t>Colab</a:t>
              </a:r>
              <a:r>
                <a:rPr lang="fr-FR" sz="1500" kern="1200" dirty="0"/>
                <a:t> (Notebook interactif)</a:t>
              </a:r>
              <a:endParaRPr lang="en-US" sz="1500" kern="1200" dirty="0"/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9234BBEB-53FE-0F3F-79C1-6B535F539DAA}"/>
              </a:ext>
            </a:extLst>
          </p:cNvPr>
          <p:cNvGrpSpPr/>
          <p:nvPr/>
        </p:nvGrpSpPr>
        <p:grpSpPr>
          <a:xfrm>
            <a:off x="515112" y="5136513"/>
            <a:ext cx="6508282" cy="658204"/>
            <a:chOff x="797773" y="26604"/>
            <a:chExt cx="6508282" cy="411929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21B638-4CDB-94AC-8AFE-3C19929E4884}"/>
                </a:ext>
              </a:extLst>
            </p:cNvPr>
            <p:cNvSpPr/>
            <p:nvPr/>
          </p:nvSpPr>
          <p:spPr>
            <a:xfrm>
              <a:off x="797773" y="3455186"/>
              <a:ext cx="6508282" cy="69071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/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60620953-88A5-D1C1-E2C4-1D897F3F17C9}"/>
                </a:ext>
              </a:extLst>
            </p:cNvPr>
            <p:cNvSpPr txBox="1"/>
            <p:nvPr/>
          </p:nvSpPr>
          <p:spPr>
            <a:xfrm>
              <a:off x="797773" y="26604"/>
              <a:ext cx="6508282" cy="6907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285750" lvl="0" indent="-28575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fr-FR" sz="1500" kern="1200" dirty="0"/>
                <a:t>Langage : Python</a:t>
              </a:r>
              <a:endParaRPr lang="en-US" sz="1500" kern="1200" dirty="0"/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DBFB336F-8D2C-DB07-460E-3F40CBDB8B9B}"/>
              </a:ext>
            </a:extLst>
          </p:cNvPr>
          <p:cNvGrpSpPr/>
          <p:nvPr/>
        </p:nvGrpSpPr>
        <p:grpSpPr>
          <a:xfrm>
            <a:off x="515112" y="5808143"/>
            <a:ext cx="6508282" cy="849965"/>
            <a:chOff x="797773" y="-310119"/>
            <a:chExt cx="6508282" cy="531940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43B0005-01C6-5B08-FF20-EB80436DC60F}"/>
                </a:ext>
              </a:extLst>
            </p:cNvPr>
            <p:cNvSpPr/>
            <p:nvPr/>
          </p:nvSpPr>
          <p:spPr>
            <a:xfrm>
              <a:off x="797773" y="4318577"/>
              <a:ext cx="6508282" cy="69071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4873D094-AC50-0D53-E454-5CE318EBA889}"/>
                </a:ext>
              </a:extLst>
            </p:cNvPr>
            <p:cNvSpPr txBox="1"/>
            <p:nvPr/>
          </p:nvSpPr>
          <p:spPr>
            <a:xfrm>
              <a:off x="797773" y="-310119"/>
              <a:ext cx="6508282" cy="6907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285750" lvl="0" indent="-28575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fr-FR" sz="1500" kern="1200" dirty="0"/>
                <a:t>Bibliothèques : Pandas (manipulation), </a:t>
              </a:r>
              <a:r>
                <a:rPr lang="fr-FR" sz="1500" kern="1200" dirty="0" err="1"/>
                <a:t>NumPy</a:t>
              </a:r>
              <a:r>
                <a:rPr lang="fr-FR" sz="1500" kern="1200" dirty="0"/>
                <a:t> (calcul), </a:t>
              </a:r>
              <a:r>
                <a:rPr lang="fr-FR" sz="1500" kern="1200" dirty="0" err="1"/>
                <a:t>Matplotlib</a:t>
              </a:r>
              <a:r>
                <a:rPr lang="fr-FR" sz="1500" kern="1200" dirty="0"/>
                <a:t> (visualisation)</a:t>
              </a:r>
              <a:endParaRPr lang="en-US" sz="1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6555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525E53-64D5-17D8-C1ED-3C614D81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fr-FR" dirty="0"/>
              <a:t>Audit et Nettoyage des Données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9BC0E81-94DA-8A16-E5DD-D080653BE2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611318"/>
              </p:ext>
            </p:extLst>
          </p:nvPr>
        </p:nvGraphicFramePr>
        <p:xfrm>
          <a:off x="527304" y="1044467"/>
          <a:ext cx="11156950" cy="2758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e 3">
            <a:extLst>
              <a:ext uri="{FF2B5EF4-FFF2-40B4-BE49-F238E27FC236}">
                <a16:creationId xmlns:a16="http://schemas.microsoft.com/office/drawing/2014/main" id="{677DD0F9-C744-FD43-C638-7B9BEF159EC5}"/>
              </a:ext>
            </a:extLst>
          </p:cNvPr>
          <p:cNvGrpSpPr/>
          <p:nvPr/>
        </p:nvGrpSpPr>
        <p:grpSpPr>
          <a:xfrm>
            <a:off x="507746" y="3058158"/>
            <a:ext cx="10432909" cy="626875"/>
            <a:chOff x="724040" y="786537"/>
            <a:chExt cx="10432909" cy="62687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719019-4C2E-8301-7563-BE5D1381AA94}"/>
                </a:ext>
              </a:extLst>
            </p:cNvPr>
            <p:cNvSpPr/>
            <p:nvPr/>
          </p:nvSpPr>
          <p:spPr>
            <a:xfrm>
              <a:off x="724040" y="786537"/>
              <a:ext cx="10432909" cy="62687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627F30F-F773-524C-F81F-85D4816A05BD}"/>
                </a:ext>
              </a:extLst>
            </p:cNvPr>
            <p:cNvSpPr txBox="1"/>
            <p:nvPr/>
          </p:nvSpPr>
          <p:spPr>
            <a:xfrm>
              <a:off x="724040" y="786537"/>
              <a:ext cx="10432909" cy="6268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344" tIns="66344" rIns="66344" bIns="66344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600" b="1" kern="1200" dirty="0"/>
                <a:t>La méthode :</a:t>
              </a:r>
              <a:endParaRPr lang="en-US" sz="1600" kern="1200" dirty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E8CC3C9C-2C19-42F0-DEDA-E8C333C4D88C}"/>
              </a:ext>
            </a:extLst>
          </p:cNvPr>
          <p:cNvGrpSpPr/>
          <p:nvPr/>
        </p:nvGrpSpPr>
        <p:grpSpPr>
          <a:xfrm>
            <a:off x="507746" y="3841752"/>
            <a:ext cx="10432909" cy="459991"/>
            <a:chOff x="724040" y="1570131"/>
            <a:chExt cx="10432909" cy="6268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82E256-CB51-AEFF-2682-245BE5432C52}"/>
                </a:ext>
              </a:extLst>
            </p:cNvPr>
            <p:cNvSpPr/>
            <p:nvPr/>
          </p:nvSpPr>
          <p:spPr>
            <a:xfrm>
              <a:off x="724040" y="1570131"/>
              <a:ext cx="10432909" cy="62687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95D7DA94-8B1F-68A2-399A-CC4FCDF39E99}"/>
                </a:ext>
              </a:extLst>
            </p:cNvPr>
            <p:cNvSpPr txBox="1"/>
            <p:nvPr/>
          </p:nvSpPr>
          <p:spPr>
            <a:xfrm>
              <a:off x="724040" y="1570131"/>
              <a:ext cx="10432909" cy="6268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344" tIns="66344" rIns="66344" bIns="66344" numCol="1" spcCol="1270" anchor="ctr" anchorCtr="0">
              <a:noAutofit/>
            </a:bodyPr>
            <a:lstStyle/>
            <a:p>
              <a:pPr marL="742950" lvl="1" indent="-285750" defTabSz="711200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fr-FR" sz="1600" b="1" kern="1200" dirty="0"/>
                <a:t>Imputation statistique :</a:t>
              </a:r>
              <a:r>
                <a:rPr lang="fr-FR" sz="1600" kern="1200" dirty="0"/>
                <a:t> Utilisation de la moyenne (</a:t>
              </a:r>
              <a:r>
                <a:rPr lang="fr-FR" sz="1600" kern="1200" dirty="0" err="1"/>
                <a:t>np.nanmean</a:t>
              </a:r>
              <a:r>
                <a:rPr lang="fr-FR" sz="1600" kern="1200" dirty="0"/>
                <a:t>) </a:t>
              </a:r>
              <a:endParaRPr lang="en-US" sz="1600" kern="1200" dirty="0"/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984B5127-AB2A-383C-3FD1-198F5995F2D4}"/>
              </a:ext>
            </a:extLst>
          </p:cNvPr>
          <p:cNvGrpSpPr/>
          <p:nvPr/>
        </p:nvGrpSpPr>
        <p:grpSpPr>
          <a:xfrm>
            <a:off x="507746" y="4625346"/>
            <a:ext cx="11511534" cy="626875"/>
            <a:chOff x="724040" y="2353725"/>
            <a:chExt cx="11511534" cy="62687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F0E795-2376-180A-EB3B-C88A5A6116A6}"/>
                </a:ext>
              </a:extLst>
            </p:cNvPr>
            <p:cNvSpPr/>
            <p:nvPr/>
          </p:nvSpPr>
          <p:spPr>
            <a:xfrm>
              <a:off x="724040" y="2353725"/>
              <a:ext cx="10432909" cy="62687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410CFAE0-7D7E-4E72-9FB3-AA1EC6E7126B}"/>
                </a:ext>
              </a:extLst>
            </p:cNvPr>
            <p:cNvSpPr txBox="1"/>
            <p:nvPr/>
          </p:nvSpPr>
          <p:spPr>
            <a:xfrm>
              <a:off x="724040" y="2353725"/>
              <a:ext cx="11511534" cy="4599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344" tIns="66344" rIns="66344" bIns="66344" numCol="1" spcCol="1270" anchor="ctr" anchorCtr="0">
              <a:noAutofit/>
            </a:bodyPr>
            <a:lstStyle/>
            <a:p>
              <a:pPr marL="742950" lvl="1" indent="-285750" defTabSz="711200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fr-FR" sz="1600" b="1" kern="1200" dirty="0"/>
                <a:t>Opérations logiques :</a:t>
              </a:r>
              <a:r>
                <a:rPr lang="fr-FR" sz="1600" kern="1200" dirty="0"/>
                <a:t> Uniformisation des catégories (ex: "LF", "</a:t>
              </a:r>
              <a:r>
                <a:rPr lang="fr-FR" sz="1600" kern="1200" dirty="0" err="1"/>
                <a:t>low</a:t>
              </a:r>
              <a:r>
                <a:rPr lang="fr-FR" sz="1600" kern="1200" dirty="0"/>
                <a:t> fat" transformés en "Low Fat" via </a:t>
              </a:r>
              <a:r>
                <a:rPr lang="fr-FR" sz="1600" kern="1200" dirty="0" err="1"/>
                <a:t>np.where</a:t>
              </a:r>
              <a:r>
                <a:rPr lang="fr-FR" sz="1600" kern="1200" dirty="0"/>
                <a:t> et .replace()).</a:t>
              </a:r>
              <a:endParaRPr lang="en-US" sz="1600" kern="1200" dirty="0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9660F78A-14B4-C812-A936-E394B4FBEA98}"/>
              </a:ext>
            </a:extLst>
          </p:cNvPr>
          <p:cNvGrpSpPr/>
          <p:nvPr/>
        </p:nvGrpSpPr>
        <p:grpSpPr>
          <a:xfrm>
            <a:off x="507746" y="5408940"/>
            <a:ext cx="10432909" cy="626875"/>
            <a:chOff x="724040" y="3137319"/>
            <a:chExt cx="10432909" cy="6268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87C649-8B6A-9829-00CE-56B579B5C232}"/>
                </a:ext>
              </a:extLst>
            </p:cNvPr>
            <p:cNvSpPr/>
            <p:nvPr/>
          </p:nvSpPr>
          <p:spPr>
            <a:xfrm>
              <a:off x="724040" y="3137319"/>
              <a:ext cx="10432909" cy="62687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11BEC11-F70C-19A8-3F53-4B969F60B6EA}"/>
                </a:ext>
              </a:extLst>
            </p:cNvPr>
            <p:cNvSpPr txBox="1"/>
            <p:nvPr/>
          </p:nvSpPr>
          <p:spPr>
            <a:xfrm>
              <a:off x="724040" y="3137319"/>
              <a:ext cx="10432909" cy="6268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344" tIns="66344" rIns="66344" bIns="66344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600" b="1" kern="1200" dirty="0"/>
                <a:t>Résultat :</a:t>
              </a:r>
              <a:r>
                <a:rPr lang="fr-FR" sz="1600" kern="1200" dirty="0"/>
                <a:t> Une base de données 100% saine, prête pour l'analyse sans biais statistique.</a:t>
              </a:r>
              <a:endParaRPr lang="en-US" sz="1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479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2596FD-8D27-C3BF-269E-CB6FEF8F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fr-FR" dirty="0"/>
              <a:t>Exploration et Visualisation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2BFC5566-B8C2-0BB1-B845-DB426F7A4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34" b="13586"/>
          <a:stretch>
            <a:fillRect/>
          </a:stretch>
        </p:blipFill>
        <p:spPr>
          <a:xfrm>
            <a:off x="515112" y="2415015"/>
            <a:ext cx="5841367" cy="3005467"/>
          </a:xfrm>
          <a:prstGeom prst="rect">
            <a:avLst/>
          </a:prstGeom>
        </p:spPr>
      </p:pic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2E5CB2B-77E6-98DA-32DD-5BEB563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500" b="1" dirty="0"/>
              <a:t>Bibliothèque :</a:t>
            </a:r>
            <a:r>
              <a:rPr lang="fr-FR" sz="1500" dirty="0"/>
              <a:t> Utilisation de </a:t>
            </a:r>
            <a:r>
              <a:rPr lang="fr-FR" sz="1500" dirty="0" err="1"/>
              <a:t>Matplotlib.pyplot</a:t>
            </a:r>
            <a:r>
              <a:rPr lang="fr-FR" sz="1500" dirty="0"/>
              <a:t> pour la conception du </a:t>
            </a:r>
            <a:r>
              <a:rPr lang="fr-FR" sz="1500" dirty="0" err="1"/>
              <a:t>dashboard</a:t>
            </a:r>
            <a:r>
              <a:rPr lang="fr-FR" sz="1500" dirty="0"/>
              <a:t>.</a:t>
            </a:r>
          </a:p>
          <a:p>
            <a:pPr>
              <a:lnSpc>
                <a:spcPct val="100000"/>
              </a:lnSpc>
            </a:pPr>
            <a:r>
              <a:rPr lang="fr-FR" sz="1500" b="1" dirty="0"/>
              <a:t>Architecture :</a:t>
            </a:r>
            <a:r>
              <a:rPr lang="fr-FR" sz="1500" dirty="0"/>
              <a:t> Emploi de </a:t>
            </a:r>
            <a:r>
              <a:rPr lang="fr-FR" sz="1500" dirty="0" err="1"/>
              <a:t>plt.subplot</a:t>
            </a:r>
            <a:r>
              <a:rPr lang="fr-FR" sz="1500" dirty="0"/>
              <a:t>(2, 2, n) pour une mise en page aérée et une lecture simultanée de plusieurs indicateurs.</a:t>
            </a:r>
          </a:p>
          <a:p>
            <a:pPr>
              <a:lnSpc>
                <a:spcPct val="100000"/>
              </a:lnSpc>
            </a:pPr>
            <a:r>
              <a:rPr lang="fr-FR" sz="1500" b="1" dirty="0"/>
              <a:t>Fonctions clés utilisées :</a:t>
            </a:r>
            <a:endParaRPr lang="fr-FR" sz="1500" dirty="0"/>
          </a:p>
          <a:p>
            <a:pPr>
              <a:lnSpc>
                <a:spcPct val="100000"/>
              </a:lnSpc>
            </a:pPr>
            <a:r>
              <a:rPr lang="fr-FR" sz="1500" dirty="0" err="1"/>
              <a:t>plt.hist</a:t>
            </a:r>
            <a:r>
              <a:rPr lang="fr-FR" sz="1500" dirty="0"/>
              <a:t>() : Pour visualiser la distribution des ventes et détecter les queues de distribution (produits "stars").</a:t>
            </a:r>
          </a:p>
          <a:p>
            <a:pPr>
              <a:lnSpc>
                <a:spcPct val="100000"/>
              </a:lnSpc>
            </a:pPr>
            <a:r>
              <a:rPr lang="fr-FR" sz="1500" dirty="0" err="1"/>
              <a:t>plt.scatter</a:t>
            </a:r>
            <a:r>
              <a:rPr lang="fr-FR" sz="1500" dirty="0"/>
              <a:t>() : Pour corréler le prix (MRP) et le volume de ventes (Analyse de dispersion).</a:t>
            </a:r>
          </a:p>
          <a:p>
            <a:pPr>
              <a:lnSpc>
                <a:spcPct val="100000"/>
              </a:lnSpc>
            </a:pPr>
            <a:r>
              <a:rPr lang="fr-FR" sz="1500" dirty="0" err="1"/>
              <a:t>plt.tight_layout</a:t>
            </a:r>
            <a:r>
              <a:rPr lang="fr-FR" sz="1500" dirty="0"/>
              <a:t>() : Optimisation automatique de l'espacement pour garantir la lisibilité des axes et des titres.</a:t>
            </a:r>
          </a:p>
        </p:txBody>
      </p:sp>
    </p:spTree>
    <p:extLst>
      <p:ext uri="{BB962C8B-B14F-4D97-AF65-F5344CB8AC3E}">
        <p14:creationId xmlns:p14="http://schemas.microsoft.com/office/powerpoint/2010/main" val="72748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68E0E2-2D3C-DB0A-A83C-16605845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Bilan Technique (Ce que j'ai appris)</a:t>
            </a:r>
          </a:p>
        </p:txBody>
      </p:sp>
      <p:graphicFrame>
        <p:nvGraphicFramePr>
          <p:cNvPr id="4" name="Espace réservé du contenu 2">
            <a:extLst>
              <a:ext uri="{FF2B5EF4-FFF2-40B4-BE49-F238E27FC236}">
                <a16:creationId xmlns:a16="http://schemas.microsoft.com/office/drawing/2014/main" id="{9F56EC3E-69B6-2B0C-2814-DC03EC8AC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4298696"/>
              </p:ext>
            </p:extLst>
          </p:nvPr>
        </p:nvGraphicFramePr>
        <p:xfrm>
          <a:off x="519539" y="2042500"/>
          <a:ext cx="11152922" cy="4345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682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608413-FAC8-2022-5548-D5891EE81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fr-FR" dirty="0"/>
              <a:t>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D68CAA2-2ED3-5DA2-5210-3C0D9D53C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836334"/>
              </p:ext>
            </p:extLst>
          </p:nvPr>
        </p:nvGraphicFramePr>
        <p:xfrm>
          <a:off x="520700" y="2047008"/>
          <a:ext cx="11156950" cy="4298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17100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506</Words>
  <Application>Microsoft Office PowerPoint</Application>
  <PresentationFormat>Grand écran</PresentationFormat>
  <Paragraphs>38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Projet Data</vt:lpstr>
      <vt:lpstr>Sommaire</vt:lpstr>
      <vt:lpstr>Introduction &amp; Contexte</vt:lpstr>
      <vt:lpstr>Audit et Nettoyage des Données</vt:lpstr>
      <vt:lpstr>Exploration et Visualisation</vt:lpstr>
      <vt:lpstr>Bilan Technique (Ce que j'ai appris)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 Palefire</dc:creator>
  <cp:lastModifiedBy>Lee Palefire</cp:lastModifiedBy>
  <cp:revision>4</cp:revision>
  <dcterms:created xsi:type="dcterms:W3CDTF">2026-04-30T08:42:17Z</dcterms:created>
  <dcterms:modified xsi:type="dcterms:W3CDTF">2026-04-30T09:33:54Z</dcterms:modified>
</cp:coreProperties>
</file>